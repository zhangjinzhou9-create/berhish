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e9c1f25e5845e9" /><Relationship Type="http://schemas.openxmlformats.org/officeDocument/2006/relationships/extended-properties" Target="/docProps/app.xml" Id="R7450d38d20f44d37" /><Relationship Type="http://schemas.openxmlformats.org/officeDocument/2006/relationships/officeDocument" Target="/ppt/presentation.xml" Id="R19d99ba2880d4071" /></Relationships>
</file>

<file path=ppt/presentation.xml><?xml version="1.0" encoding="utf-8"?>
<p:presentation xmlns:p="http://schemas.openxmlformats.org/presentationml/2006/main">
  <p:sldMasterIdLst>
    <p:sldMasterId xmlns:r="http://schemas.openxmlformats.org/officeDocument/2006/relationships" id="2147483648" r:id="Rfbdee2d6d4614e3a"/>
  </p:sldMasterIdLst>
  <p:notesMasterIdLst>
    <p:notesMasterId xmlns:r="http://schemas.openxmlformats.org/officeDocument/2006/relationships" r:id="R7496a369cc6847f8"/>
  </p:notesMasterIdLst>
  <p:sldIdLst>
    <p:sldId xmlns:r="http://schemas.openxmlformats.org/officeDocument/2006/relationships" id="256" r:id="Rd78ac82d54fa4169"/>
    <p:sldId xmlns:r="http://schemas.openxmlformats.org/officeDocument/2006/relationships" id="257" r:id="Rcc099c226a124d91"/>
    <p:sldId xmlns:r="http://schemas.openxmlformats.org/officeDocument/2006/relationships" id="258" r:id="R2f544c1b18e84b0d"/>
    <p:sldId xmlns:r="http://schemas.openxmlformats.org/officeDocument/2006/relationships" id="259" r:id="Rd92b162e3744452f"/>
    <p:sldId xmlns:r="http://schemas.openxmlformats.org/officeDocument/2006/relationships" id="260" r:id="R66764c8289244a4c"/>
    <p:sldId xmlns:r="http://schemas.openxmlformats.org/officeDocument/2006/relationships" id="261" r:id="Rd27cd9cc773d427a"/>
    <p:sldId xmlns:r="http://schemas.openxmlformats.org/officeDocument/2006/relationships" id="262" r:id="R5b5015e944cd4045"/>
    <p:sldId xmlns:r="http://schemas.openxmlformats.org/officeDocument/2006/relationships" id="263" r:id="R8725dd3d7e88493f"/>
    <p:sldId xmlns:r="http://schemas.openxmlformats.org/officeDocument/2006/relationships" id="264" r:id="R6aaa39909c4148cf"/>
    <p:sldId xmlns:r="http://schemas.openxmlformats.org/officeDocument/2006/relationships" id="265" r:id="Rd38ba7f7b0964951"/>
    <p:sldId xmlns:r="http://schemas.openxmlformats.org/officeDocument/2006/relationships" id="266" r:id="R06ebb72e247c4d49"/>
    <p:sldId xmlns:r="http://schemas.openxmlformats.org/officeDocument/2006/relationships" id="267" r:id="Re1223d93bbc7407b"/>
    <p:sldId xmlns:r="http://schemas.openxmlformats.org/officeDocument/2006/relationships" id="268" r:id="R4611a334cef14551"/>
    <p:sldId xmlns:r="http://schemas.openxmlformats.org/officeDocument/2006/relationships" id="269" r:id="Ra69eff7857b44348"/>
    <p:sldId xmlns:r="http://schemas.openxmlformats.org/officeDocument/2006/relationships" id="270" r:id="R2964311946e548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d2e1d25daf4292" /><Relationship Type="http://schemas.openxmlformats.org/officeDocument/2006/relationships/slideMaster" Target="/ppt/slideMasters/slideMaster1.xml" Id="Rfbdee2d6d4614e3a" /><Relationship Type="http://schemas.openxmlformats.org/officeDocument/2006/relationships/notesMaster" Target="/ppt/notesMasters/notesMaster1.xml" Id="R7496a369cc6847f8" /><Relationship Type="http://schemas.openxmlformats.org/officeDocument/2006/relationships/presProps" Target="/ppt/presProps.xml" Id="R68398844dc554a52" /><Relationship Type="http://schemas.openxmlformats.org/officeDocument/2006/relationships/tableStyles" Target="/ppt/tableStyles.xml" Id="Rafd20b39d29445d8" /><Relationship Type="http://schemas.openxmlformats.org/officeDocument/2006/relationships/slide" Target="/ppt/slides/slide1.xml" Id="Rd78ac82d54fa4169" /><Relationship Type="http://schemas.openxmlformats.org/officeDocument/2006/relationships/slide" Target="/ppt/slides/slide2.xml" Id="Rcc099c226a124d91" /><Relationship Type="http://schemas.openxmlformats.org/officeDocument/2006/relationships/slide" Target="/ppt/slides/slide3.xml" Id="R2f544c1b18e84b0d" /><Relationship Type="http://schemas.openxmlformats.org/officeDocument/2006/relationships/slide" Target="/ppt/slides/slide4.xml" Id="Rd92b162e3744452f" /><Relationship Type="http://schemas.openxmlformats.org/officeDocument/2006/relationships/slide" Target="/ppt/slides/slide5.xml" Id="R66764c8289244a4c" /><Relationship Type="http://schemas.openxmlformats.org/officeDocument/2006/relationships/slide" Target="/ppt/slides/slide6.xml" Id="Rd27cd9cc773d427a" /><Relationship Type="http://schemas.openxmlformats.org/officeDocument/2006/relationships/slide" Target="/ppt/slides/slide7.xml" Id="R5b5015e944cd4045" /><Relationship Type="http://schemas.openxmlformats.org/officeDocument/2006/relationships/slide" Target="/ppt/slides/slide8.xml" Id="R8725dd3d7e88493f" /><Relationship Type="http://schemas.openxmlformats.org/officeDocument/2006/relationships/slide" Target="/ppt/slides/slide9.xml" Id="R6aaa39909c4148cf" /><Relationship Type="http://schemas.openxmlformats.org/officeDocument/2006/relationships/slide" Target="/ppt/slides/slide10.xml" Id="Rd38ba7f7b0964951" /><Relationship Type="http://schemas.openxmlformats.org/officeDocument/2006/relationships/slide" Target="/ppt/slides/slide11.xml" Id="R06ebb72e247c4d49" /><Relationship Type="http://schemas.openxmlformats.org/officeDocument/2006/relationships/slide" Target="/ppt/slides/slide12.xml" Id="Re1223d93bbc7407b" /><Relationship Type="http://schemas.openxmlformats.org/officeDocument/2006/relationships/slide" Target="/ppt/slides/slide13.xml" Id="R4611a334cef14551" /><Relationship Type="http://schemas.openxmlformats.org/officeDocument/2006/relationships/slide" Target="/ppt/slides/slide14.xml" Id="Ra69eff7857b44348" /><Relationship Type="http://schemas.openxmlformats.org/officeDocument/2006/relationships/slide" Target="/ppt/slides/slide15.xml" Id="R2964311946e548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5defbf59c249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228600" dist="106493" dir="3806097">
              <a:srgbClr val="000000">
                <a:alpha val="16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cb97d506d44e59" /><Relationship Type="http://schemas.openxmlformats.org/officeDocument/2006/relationships/notesMaster" Target="/ppt/notesMasters/notesMaster1.xml" Id="R073a90c4600b45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06654e3e964088" /><Relationship Type="http://schemas.openxmlformats.org/officeDocument/2006/relationships/notesMaster" Target="/ppt/notesMasters/notesMaster1.xml" Id="Rc4a5173ae76743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81a5f20e284f39" /><Relationship Type="http://schemas.openxmlformats.org/officeDocument/2006/relationships/notesMaster" Target="/ppt/notesMasters/notesMaster1.xml" Id="R4aab8645ff1b4a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631933e27c4cff" /><Relationship Type="http://schemas.openxmlformats.org/officeDocument/2006/relationships/notesMaster" Target="/ppt/notesMasters/notesMaster1.xml" Id="R39be603ab7f446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941c974fc14948" /><Relationship Type="http://schemas.openxmlformats.org/officeDocument/2006/relationships/notesMaster" Target="/ppt/notesMasters/notesMaster1.xml" Id="Rec94eb774fc144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f70485ce1d4ea1" /><Relationship Type="http://schemas.openxmlformats.org/officeDocument/2006/relationships/notesMaster" Target="/ppt/notesMasters/notesMaster1.xml" Id="R30371fea7a3545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559bae77f84cd7" /><Relationship Type="http://schemas.openxmlformats.org/officeDocument/2006/relationships/notesMaster" Target="/ppt/notesMasters/notesMaster1.xml" Id="Rfc5d6d06ffe449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fd12028313441b" /><Relationship Type="http://schemas.openxmlformats.org/officeDocument/2006/relationships/notesMaster" Target="/ppt/notesMasters/notesMaster1.xml" Id="R1f8feabb68bc4e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74a62e681c457a" /><Relationship Type="http://schemas.openxmlformats.org/officeDocument/2006/relationships/notesMaster" Target="/ppt/notesMasters/notesMaster1.xml" Id="R2cba5cda8f1d4e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77763f235044fc" /><Relationship Type="http://schemas.openxmlformats.org/officeDocument/2006/relationships/notesMaster" Target="/ppt/notesMasters/notesMaster1.xml" Id="R95c4651641854f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35089608de4b93" /><Relationship Type="http://schemas.openxmlformats.org/officeDocument/2006/relationships/notesMaster" Target="/ppt/notesMasters/notesMaster1.xml" Id="R8c59904c32b14f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969f5fdeb14e45" /><Relationship Type="http://schemas.openxmlformats.org/officeDocument/2006/relationships/notesMaster" Target="/ppt/notesMasters/notesMaster1.xml" Id="R805039c04aa34b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3d662fdc97467a" /><Relationship Type="http://schemas.openxmlformats.org/officeDocument/2006/relationships/notesMaster" Target="/ppt/notesMasters/notesMaster1.xml" Id="R31fd3edaae3b44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fdeaa1bb8b4f9d" /><Relationship Type="http://schemas.openxmlformats.org/officeDocument/2006/relationships/notesMaster" Target="/ppt/notesMasters/notesMaster1.xml" Id="R052da0cf053c45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efd745bbb04237" /><Relationship Type="http://schemas.openxmlformats.org/officeDocument/2006/relationships/notesMaster" Target="/ppt/notesMasters/notesMaster1.xml" Id="R07fee0c0a12140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My name is Zhu Fuxin, and this is CampusFlow, my final web service project. CampusFlow is a desktop-first personal exhibition service. It combines a carefully designed portfolio interface with external data, secure accounts, persistent storage, and cloud deployment. My goal was not to build another generic school portal. I wanted the service itself to feel like a small published work: calm, visual, and personal, while still demonstrating the technical requirements of a complete web service.</a:t>
            </a:r>
          </a:p>
          <a:p xmlns:a="http://schemas.openxmlformats.org/drawingml/2006/main">
            <a:r>
              <a:t/>
            </a:r>
          </a:p>
          <a:p xmlns:a="http://schemas.openxmlformats.org/drawingml/2006/main">
            <a:r>
              <a:t>[Sources]</a:t>
            </a:r>
          </a:p>
          <a:p xmlns:a="http://schemas.openxmlformats.org/drawingml/2006/main">
            <a:r>
              <a:t>- PJH, “Evening traffic on a bustling city street,” Unsplash: https://unsplash.com/photos/evening-traffic-on-a-bustling-city-street-J-OLVaKjgAs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started with a simple observation. We already have many places to store files, but storage does not automatically create a meaningful presentation. A folder can contain good photographs or drawings, yet it does not explain why they belong together. CampusFlow addresses that gap by treating a personal page as an exhibition. The interface gives everyday work a sequence, a mood, and enough context for another person to understand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CampusFlow is organized around three clearly different pages. Today connects the service to the outside world through location, country, and weather data. Portfolio presents selected work as a visual diary. Account provides the practical functions required to create and maintain the page. These are not three unrelated screens. They form one sequence: context, work, and ownership. This positioning is important because CampusFlow is not presented as a forum or a school-management system. It is a personal exhibition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begins in guest mode, so the first page never feels empty. A visitor can browse the Today page and the featured portfolio without creating an account. Registration creates a normal user account. After signing in, the owner can edit a profile, save a usual location, and manage portfolio items. The current version focuses on this complete personal workflow. Creator discovery, public profile links, comments, and forum-style sharing are intentionally placed in the future roadmap rather than being presented as finished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this point, I will switch from the slides to the running CampusFlow application. The live demonstration follows a separate script so that the presentation notes remain focused on the main story. After the demonstration, I will return to the slides and explain how the service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demonstrates the central web-service idea. The browser sends a country and city to one CampusFlow endpoint. The backend first geocodes the city, then requests current weather from Open-Meteo and country information from REST Countries. CampusFlow combines those external responses into one stable JSON contract. The client does not display raw data tables. It translates the result into a location summary, weather state, and practical advice. This is the original feature built from the external data required by the assignment.</a:t>
            </a:r>
          </a:p>
          <a:p xmlns:a="http://schemas.openxmlformats.org/drawingml/2006/main">
            <a:r>
              <a:t/>
            </a:r>
          </a:p>
          <a:p xmlns:a="http://schemas.openxmlformats.org/drawingml/2006/main">
            <a:r>
              <a:t>[Sources]</a:t>
            </a:r>
          </a:p>
          <a:p xmlns:a="http://schemas.openxmlformats.org/drawingml/2006/main">
            <a:r>
              <a:t>- Open-Meteo API documentation: https://open-meteo.com/en/docs</a:t>
            </a:r>
          </a:p>
          <a:p xmlns:a="http://schemas.openxmlformats.org/drawingml/2006/main">
            <a:r>
              <a:t>- REST Countries API: https://restcountries.com/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is the main identity of the project. The guest view contains a complete featured profile and four distinct works, so the page can be evaluated without any setup. A signed-in owner can update personal information and create, edit, or delete portfolio items. The server checks ownership for every write operation. The content model is deliberately flexible: the page can become a resume, a photography set, an illustration collection, a design archive, or a mixed visual diary.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Account page separates the user-facing task from implementation details. The first option is local registration and sign-in. The password field remains masked, and public registration can create only a normal user role. Google and GitHub are available as optional third-party identity providers, but they do not dominate the interface. After authentication, the service restores the session, shows the authorized name and avatar when available, and unlocks editing for the signed-in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visual design follows the same logic as the product idea. I used warm paper tones, black ink, and small vermilion marks instead of a conventional dashboard palette. Photographs are cropped like editorial spreads, with shifts between close detail and open space. The three pages are visibly different, but they share typography, navigation, and motion rules. The manga influence comes from pacing and framing rather than copied characters or panels. This keeps the interface original and appropriate for a projected classroom demonstration.</a:t>
            </a:r>
          </a:p>
          <a:p xmlns:a="http://schemas.openxmlformats.org/drawingml/2006/main">
            <a:r>
              <a:t/>
            </a:r>
          </a:p>
          <a:p xmlns:a="http://schemas.openxmlformats.org/drawingml/2006/main">
            <a:r>
              <a:t>[Sources]</a:t>
            </a:r>
          </a:p>
          <a:p xmlns:a="http://schemas.openxmlformats.org/drawingml/2006/main">
            <a:r>
              <a:t>- Suzuki Kiitsu, “Flowering Plum and Camellia,” c. 1850s, public-domain reproduction via Wikimedia Commons: https://commons.wikimedia.org/wiki/File:%27Flowering_Plum_and_Camellia%27,_six-fold_screen_by_Suzuki_Kiitsu,_c._1850s,_ink_and_color_on_paper,_Japanese,_Honolulu_Academy_of_Arts.jpg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and the API are served by one Spring Boot application. This avoids cross-origin complexity and gives the presentation one stable URL. The controller layer exposes the REST contract. The service layer combines external data and applies business rules. Local Docker uses MySQL, while the Azure Free F1 deployment uses a persistent H2 file under the App Service home directory. The same Docker image contains the frontend, backend, API description, and runtime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is implemented in the backend rather than being simulated in the interface. Local passwords are encoded with BCrypt and never returned by an API. Authentication uses an HttpOnly session cookie, and the Azure version also enables the Secure flag. State-changing requests require CSRF protection. Public registration always creates a normal user. Administrator credentials exist only as environment variables. Finally, profile and portfolio write operations verify ownership on the server, so changing a browser request cannot bypass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release process is intentionally reproducible. The multi-stage Docker build compiles the application and runs the regression suite. Nine tests verify account restrictions, password encoding, cookies, CSRF, ownership, administrator authorization, guest content, multilingual interface invariants, timezone behavior, and OAuth callback generation. The resulting immutable image is published to Docker Hub and deployed to one Azure Linux Web App on port 8080. The public service and the local service use the same application image.</a:t>
            </a:r>
          </a:p>
          <a:p xmlns:a="http://schemas.openxmlformats.org/drawingml/2006/main">
            <a:r>
              <a:t/>
            </a:r>
          </a:p>
          <a:p xmlns:a="http://schemas.openxmlformats.org/drawingml/2006/main">
            <a:r>
              <a:t>[Sources]</a:t>
            </a:r>
          </a:p>
          <a:p xmlns:a="http://schemas.openxmlformats.org/drawingml/2006/main">
            <a:r>
              <a:t>- Microsoft Azure App Service custom-container documentation: https://learn.microsoft.com/azure/app-service/configure-custom-container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maps the implementation directly to the assignment. The project includes both a client and a service. It communicates with at least two external web services and creates an original feature from their data. It includes authentication, authorization, persistent storage, source code, a runnable binary, Docker delivery, and an online Azure deployment. The presentation and separate demonstration script complete the final submission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release completes the personal exhibition workflow, but it also creates a clear foundation for future development. The next step would be stable public creator pages that can be shared directly. After that, tags could support discovery by medium, place, season, or topic. Collections, comments, and a forum layer could be added only after the ownership and moderation model is designed. These items are a roadmap, not features claimed by the current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very much for listening. I hope you enjoyed this short visit to CampusFlow. The project is available through the Azure address shown on the slide, and the complete source, runnable package, report, and presentation are included in the submission.</a:t>
            </a:r>
          </a:p>
          <a:p xmlns:a="http://schemas.openxmlformats.org/drawingml/2006/main">
            <a:r>
              <a:t/>
            </a:r>
          </a:p>
          <a:p xmlns:a="http://schemas.openxmlformats.org/drawingml/2006/main">
            <a:r>
              <a:t>[Sources]</a:t>
            </a:r>
          </a:p>
          <a:p xmlns:a="http://schemas.openxmlformats.org/drawingml/2006/main">
            <a:r>
              <a:t>- “Japanese Katagami Stencil Abstract Text,” public-domain reproduction via Wikimedia Commons: https://commons.wikimedia.org/wiki/File:Japanese_Katagami_Stencil_Abstract_Text.jpg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997da9ce2a41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b404d89d924c89" /><Relationship Type="http://schemas.openxmlformats.org/officeDocument/2006/relationships/slideLayout" Target="/ppt/slideLayouts/slideLayout1.xml" Id="R788e830126d544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8e830126d544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228600" dist="106493" dir="3806097">
              <a:srgbClr val="000000">
                <a:alpha val="16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d65fcde1fb4c57" /><Relationship Type="http://schemas.openxmlformats.org/officeDocument/2006/relationships/image" Target="/ppt/media/image.jpeg" Id="R80d0542efb774acc" /><Relationship Type="http://schemas.openxmlformats.org/officeDocument/2006/relationships/notesSlide" Target="/ppt/notesSlides/notesSlide1.xml" Id="R52368bc972c24e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ade4017c834050" /><Relationship Type="http://schemas.openxmlformats.org/officeDocument/2006/relationships/image" Target="/ppt/media/image2.jpeg" Id="R8e26be003496473c" /><Relationship Type="http://schemas.openxmlformats.org/officeDocument/2006/relationships/notesSlide" Target="/ppt/notesSlides/notesSlide2.xml" Id="Ree08561fe85844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b5898a74644fb3" /><Relationship Type="http://schemas.openxmlformats.org/officeDocument/2006/relationships/notesSlide" Target="/ppt/notesSlides/notesSlide3.xml" Id="R69add3f242c941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ad252056bb4847" /><Relationship Type="http://schemas.openxmlformats.org/officeDocument/2006/relationships/image" Target="/ppt/media/image3.jpeg" Id="Rd4eb64c49cd94e83" /><Relationship Type="http://schemas.openxmlformats.org/officeDocument/2006/relationships/notesSlide" Target="/ppt/notesSlides/notesSlide4.xml" Id="Ra00016c371f74d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6c013c9130406f" /><Relationship Type="http://schemas.openxmlformats.org/officeDocument/2006/relationships/notesSlide" Target="/ppt/notesSlides/notesSlide5.xml" Id="Rc32568c411534b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8eea775730476a" /><Relationship Type="http://schemas.openxmlformats.org/officeDocument/2006/relationships/image" Target="/ppt/media/image4.jpeg" Id="R1283de8a796549df" /><Relationship Type="http://schemas.openxmlformats.org/officeDocument/2006/relationships/notesSlide" Target="/ppt/notesSlides/notesSlide6.xml" Id="Rb7181b6e85f04a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b3d5a2064b4ce6" /><Relationship Type="http://schemas.openxmlformats.org/officeDocument/2006/relationships/image" Target="/ppt/media/image5.jpeg" Id="R4464e350954c486f" /><Relationship Type="http://schemas.openxmlformats.org/officeDocument/2006/relationships/notesSlide" Target="/ppt/notesSlides/notesSlide7.xml" Id="R7450c020335545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418f61ff1246c0" /><Relationship Type="http://schemas.openxmlformats.org/officeDocument/2006/relationships/image" Target="/ppt/media/image6.jpeg" Id="R4e60a77f54fc4e44" /><Relationship Type="http://schemas.openxmlformats.org/officeDocument/2006/relationships/notesSlide" Target="/ppt/notesSlides/notesSlide8.xml" Id="R88f1660436ba42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a86bcb523d43f1" /><Relationship Type="http://schemas.openxmlformats.org/officeDocument/2006/relationships/image" Target="/ppt/media/image7.jpeg" Id="R79281305c00446bb" /><Relationship Type="http://schemas.openxmlformats.org/officeDocument/2006/relationships/image" Target="/ppt/media/image8.jpeg" Id="R338e9fd341c04206" /><Relationship Type="http://schemas.openxmlformats.org/officeDocument/2006/relationships/notesSlide" Target="/ppt/notesSlides/notesSlide9.xml" Id="R0c28a103f5e642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7c21083abb418f" /><Relationship Type="http://schemas.openxmlformats.org/officeDocument/2006/relationships/image" Target="/ppt/media/image9.jpeg" Id="R9f7834b04c5248ab" /><Relationship Type="http://schemas.openxmlformats.org/officeDocument/2006/relationships/notesSlide" Target="/ppt/notesSlides/notesSlide10.xml" Id="R4a78d1b355d149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19ca71dbb2947c8" /><Relationship Type="http://schemas.openxmlformats.org/officeDocument/2006/relationships/notesSlide" Target="/ppt/notesSlides/notesSlide11.xml" Id="R6e2cca695cbb44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25f76c8929a409e" /><Relationship Type="http://schemas.openxmlformats.org/officeDocument/2006/relationships/image" Target="/ppt/media/image10.jpeg" Id="R28f5a055bbac4641" /><Relationship Type="http://schemas.openxmlformats.org/officeDocument/2006/relationships/notesSlide" Target="/ppt/notesSlides/notesSlide12.xml" Id="R8eb117f084864c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1f0b22c2f4e48d7" /><Relationship Type="http://schemas.openxmlformats.org/officeDocument/2006/relationships/image" Target="/ppt/media/image.png" Id="R770fac5fe9ab4a43" /><Relationship Type="http://schemas.openxmlformats.org/officeDocument/2006/relationships/notesSlide" Target="/ppt/notesSlides/notesSlide13.xml" Id="R8f88acf5e51142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cad65479b6640c7" /><Relationship Type="http://schemas.openxmlformats.org/officeDocument/2006/relationships/image" Target="/ppt/media/image11.jpeg" Id="R8398b95980dd46bd" /><Relationship Type="http://schemas.openxmlformats.org/officeDocument/2006/relationships/notesSlide" Target="/ppt/notesSlides/notesSlide14.xml" Id="R78b85b5a939144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79e8a292b514d19" /><Relationship Type="http://schemas.openxmlformats.org/officeDocument/2006/relationships/image" Target="/ppt/media/image12.jpeg" Id="R10e8e6d14518496f" /><Relationship Type="http://schemas.openxmlformats.org/officeDocument/2006/relationships/notesSlide" Target="/ppt/notesSlides/notesSlide15.xml" Id="R8c0939c4011e47a6" /></Relationships>
</file>

<file path=ppt/slides/slide1.xml><?xml version="1.0" encoding="utf-8"?>
<p:sld xmlns:p="http://schemas.openxmlformats.org/presentationml/2006/main">
  <p:cSld>
    <p:bg>
      <p:bgPr>
        <a:solidFill xmlns:a="http://schemas.openxmlformats.org/drawingml/2006/main">
          <a:srgbClr val="171613"/>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0d0542efb774acc"/>
          <a:srcRect xmlns:a="http://schemas.openxmlformats.org/drawingml/2006/main" l="0" t="11039" r="0" b="11039"/>
          <a:stretch xmlns:a="http://schemas.openxmlformats.org/drawingml/2006/main">
            <a:fillRect l="0" t="0" r="0" b="0"/>
          </a:stretch>
        </p:blipFill>
        <p:spPr>
          <a:xfrm xmlns:a="http://schemas.openxmlformats.org/drawingml/2006/main">
            <a:off x="6324600" y="0"/>
            <a:ext cx="5867400" cy="6858000"/>
          </a:xfrm>
          <a:prstGeom xmlns:a="http://schemas.openxmlformats.org/drawingml/2006/main" prst="rect">
            <a:avLst/>
          </a:prstGeom>
        </p:spPr>
      </p:pic>
      <p:sp>
        <p:nvSpPr>
          <p:cNvPr id="2" name="cover-paper">
            <a:extLst xmlns:a="http://schemas.openxmlformats.org/drawingml/2006/main">
              <a:ext uri="{FF2B5EF4-FFF2-40B4-BE49-F238E27FC236}">
                <a16:creationId xmlns:a16="http://schemas.microsoft.com/office/drawing/2014/main" id="{37578E7A-58DA-4F78-A330-0720A3E50ABE}"/>
              </a:ext>
            </a:extLst>
          </p:cNvPr>
          <p:cNvSpPr>
            <a:spLocks xmlns:a="http://schemas.openxmlformats.org/drawingml/2006/main" noGrp="1"/>
          </p:cNvSpPr>
          <p:nvPr/>
        </p:nvSpPr>
        <p:spPr>
          <a:xfrm xmlns:a="http://schemas.openxmlformats.org/drawingml/2006/main">
            <a:off x="0" y="0"/>
            <a:ext cx="6810375" cy="6858000"/>
          </a:xfrm>
          <a:prstGeom xmlns:a="http://schemas.openxmlformats.org/drawingml/2006/main" prst="rect">
            <a:avLst/>
          </a:prstGeom>
          <a:solidFill xmlns:a="http://schemas.openxmlformats.org/drawingml/2006/main">
            <a:srgbClr val="F2EEE6"/>
          </a:solidFill>
          <a:ln xmlns:a="http://schemas.openxmlformats.org/drawingml/2006/main" w="0">
            <a:noFill/>
            <a:prstDash val="solid"/>
          </a:ln>
        </p:spPr>
      </p:sp>
      <p:sp>
        <p:nvSpPr>
          <p:cNvPr id="3" name="rule-52-44">
            <a:extLst xmlns:a="http://schemas.openxmlformats.org/drawingml/2006/main">
              <a:ext uri="{FF2B5EF4-FFF2-40B4-BE49-F238E27FC236}">
                <a16:creationId xmlns:a16="http://schemas.microsoft.com/office/drawing/2014/main" id="{9206697D-AA66-45F2-A344-E5DA46D13ACC}"/>
              </a:ext>
            </a:extLst>
          </p:cNvPr>
          <p:cNvSpPr>
            <a:spLocks xmlns:a="http://schemas.openxmlformats.org/drawingml/2006/main" noGrp="1"/>
          </p:cNvSpPr>
          <p:nvPr/>
        </p:nvSpPr>
        <p:spPr>
          <a:xfrm xmlns:a="http://schemas.openxmlformats.org/drawingml/2006/main">
            <a:off x="495300" y="419100"/>
            <a:ext cx="30480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4" name="text-h04z1h">
            <a:extLst xmlns:a="http://schemas.openxmlformats.org/drawingml/2006/main">
              <a:ext uri="{FF2B5EF4-FFF2-40B4-BE49-F238E27FC236}">
                <a16:creationId xmlns:a16="http://schemas.microsoft.com/office/drawing/2014/main" id="{BFCE6297-AF59-4773-86FF-A25D374AED01}"/>
              </a:ext>
            </a:extLst>
          </p:cNvPr>
          <p:cNvSpPr>
            <a:spLocks xmlns:a="http://schemas.openxmlformats.org/drawingml/2006/main" noGrp="1"/>
          </p:cNvSpPr>
          <p:nvPr/>
        </p:nvSpPr>
        <p:spPr>
          <a:xfrm xmlns:a="http://schemas.openxmlformats.org/drawingml/2006/main">
            <a:off x="933450" y="3238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4D4942"/>
                </a:solidFill>
                <a:latin typeface="Consolas"/>
                <a:ea typeface="Consolas"/>
                <a:cs typeface="Consolas"/>
              </a:defRPr>
            </a:pPr>
            <a:r>
              <a:rPr sz="900" b="1" i="0">
                <a:solidFill>
                  <a:srgbClr val="4D4942"/>
                </a:solidFill>
                <a:latin typeface="Consolas"/>
                <a:ea typeface="Consolas"/>
                <a:cs typeface="Consolas"/>
              </a:rPr>
              <a:t>FINAL WEB SERVICE PROJECT</a:t>
            </a:r>
          </a:p>
        </p:txBody>
      </p:sp>
      <p:sp>
        <p:nvSpPr>
          <p:cNvPr id="5" name="text-2mne2b">
            <a:extLst xmlns:a="http://schemas.openxmlformats.org/drawingml/2006/main">
              <a:ext uri="{FF2B5EF4-FFF2-40B4-BE49-F238E27FC236}">
                <a16:creationId xmlns:a16="http://schemas.microsoft.com/office/drawing/2014/main" id="{741C075F-AE05-4D28-9A4A-AADC98CD5FC1}"/>
              </a:ext>
            </a:extLst>
          </p:cNvPr>
          <p:cNvSpPr>
            <a:spLocks xmlns:a="http://schemas.openxmlformats.org/drawingml/2006/main" noGrp="1"/>
          </p:cNvSpPr>
          <p:nvPr/>
        </p:nvSpPr>
        <p:spPr>
          <a:xfrm xmlns:a="http://schemas.openxmlformats.org/drawingml/2006/main">
            <a:off x="495300" y="1428750"/>
            <a:ext cx="5143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5550" b="0" i="0">
                <a:solidFill>
                  <a:srgbClr val="171613"/>
                </a:solidFill>
                <a:latin typeface="Georgia"/>
                <a:ea typeface="Georgia"/>
                <a:cs typeface="Georgia"/>
              </a:defRPr>
            </a:pPr>
            <a:r>
              <a:rPr sz="5550" b="0" i="0">
                <a:solidFill>
                  <a:srgbClr val="171613"/>
                </a:solidFill>
                <a:latin typeface="Georgia"/>
                <a:ea typeface="Georgia"/>
                <a:cs typeface="Georgia"/>
              </a:rPr>
              <a:t>Campus</a:t>
            </a:r>
          </a:p>
        </p:txBody>
      </p:sp>
      <p:sp>
        <p:nvSpPr>
          <p:cNvPr id="6" name="text-etp1iq">
            <a:extLst xmlns:a="http://schemas.openxmlformats.org/drawingml/2006/main">
              <a:ext uri="{FF2B5EF4-FFF2-40B4-BE49-F238E27FC236}">
                <a16:creationId xmlns:a16="http://schemas.microsoft.com/office/drawing/2014/main" id="{CB1052C5-F9B3-48BA-8F23-2103C57AD51E}"/>
              </a:ext>
            </a:extLst>
          </p:cNvPr>
          <p:cNvSpPr>
            <a:spLocks xmlns:a="http://schemas.openxmlformats.org/drawingml/2006/main" noGrp="1"/>
          </p:cNvSpPr>
          <p:nvPr/>
        </p:nvSpPr>
        <p:spPr>
          <a:xfrm xmlns:a="http://schemas.openxmlformats.org/drawingml/2006/main">
            <a:off x="495300" y="2190750"/>
            <a:ext cx="3619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5550" b="0" i="0">
                <a:solidFill>
                  <a:srgbClr val="D84A32"/>
                </a:solidFill>
                <a:latin typeface="Georgia"/>
                <a:ea typeface="Georgia"/>
                <a:cs typeface="Georgia"/>
              </a:defRPr>
            </a:pPr>
            <a:r>
              <a:rPr sz="5550" b="0" i="0">
                <a:solidFill>
                  <a:srgbClr val="D84A32"/>
                </a:solidFill>
                <a:latin typeface="Georgia"/>
                <a:ea typeface="Georgia"/>
                <a:cs typeface="Georgia"/>
              </a:rPr>
              <a:t>Flow</a:t>
            </a:r>
          </a:p>
        </p:txBody>
      </p:sp>
      <p:sp>
        <p:nvSpPr>
          <p:cNvPr id="7" name="text-4j0i5j">
            <a:extLst xmlns:a="http://schemas.openxmlformats.org/drawingml/2006/main">
              <a:ext uri="{FF2B5EF4-FFF2-40B4-BE49-F238E27FC236}">
                <a16:creationId xmlns:a16="http://schemas.microsoft.com/office/drawing/2014/main" id="{CA239FB0-FEB6-4E48-B745-D2E626AFDED1}"/>
              </a:ext>
            </a:extLst>
          </p:cNvPr>
          <p:cNvSpPr>
            <a:spLocks xmlns:a="http://schemas.openxmlformats.org/drawingml/2006/main" noGrp="1"/>
          </p:cNvSpPr>
          <p:nvPr/>
        </p:nvSpPr>
        <p:spPr>
          <a:xfrm xmlns:a="http://schemas.openxmlformats.org/drawingml/2006/main">
            <a:off x="552450" y="3429000"/>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800" b="0" i="0">
                <a:solidFill>
                  <a:srgbClr val="4D4942"/>
                </a:solidFill>
                <a:latin typeface="Georgia"/>
                <a:ea typeface="Georgia"/>
                <a:cs typeface="Georgia"/>
              </a:defRPr>
            </a:pPr>
            <a:r>
              <a:rPr sz="1800" b="0" i="0">
                <a:solidFill>
                  <a:srgbClr val="4D4942"/>
                </a:solidFill>
                <a:latin typeface="Georgia"/>
                <a:ea typeface="Georgia"/>
                <a:cs typeface="Georgia"/>
              </a:rPr>
              <a:t>A personal exhibition web service</a:t>
            </a:r>
          </a:p>
          <a:p xmlns:a="http://schemas.openxmlformats.org/drawingml/2006/main">
            <a:pPr algn="l">
              <a:lnSpc>
                <a:spcPct val="116000"/>
              </a:lnSpc>
              <a:buNone/>
              <a:defRPr sz="1800" b="0" i="0">
                <a:solidFill>
                  <a:srgbClr val="4D4942"/>
                </a:solidFill>
                <a:latin typeface="Georgia"/>
                <a:ea typeface="Georgia"/>
                <a:cs typeface="Georgia"/>
              </a:defRPr>
            </a:pPr>
            <a:r>
              <a:rPr sz="1800" b="0" i="0">
                <a:solidFill>
                  <a:srgbClr val="4D4942"/>
                </a:solidFill>
                <a:latin typeface="Georgia"/>
                <a:ea typeface="Georgia"/>
                <a:cs typeface="Georgia"/>
              </a:rPr>
              <a:t>shaped by everyday context.</a:t>
            </a:r>
          </a:p>
        </p:txBody>
      </p:sp>
      <p:sp>
        <p:nvSpPr>
          <p:cNvPr id="8" name="rule-56-528">
            <a:extLst xmlns:a="http://schemas.openxmlformats.org/drawingml/2006/main">
              <a:ext uri="{FF2B5EF4-FFF2-40B4-BE49-F238E27FC236}">
                <a16:creationId xmlns:a16="http://schemas.microsoft.com/office/drawing/2014/main" id="{27800571-FA81-43F1-983B-9CDB13F12ACF}"/>
              </a:ext>
            </a:extLst>
          </p:cNvPr>
          <p:cNvSpPr>
            <a:spLocks xmlns:a="http://schemas.openxmlformats.org/drawingml/2006/main" noGrp="1"/>
          </p:cNvSpPr>
          <p:nvPr/>
        </p:nvSpPr>
        <p:spPr>
          <a:xfrm xmlns:a="http://schemas.openxmlformats.org/drawingml/2006/main">
            <a:off x="533400" y="5029200"/>
            <a:ext cx="49530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9" name="text-xj2xr7">
            <a:extLst xmlns:a="http://schemas.openxmlformats.org/drawingml/2006/main">
              <a:ext uri="{FF2B5EF4-FFF2-40B4-BE49-F238E27FC236}">
                <a16:creationId xmlns:a16="http://schemas.microsoft.com/office/drawing/2014/main" id="{E9322249-664B-4F22-B9E4-CEC1B10734AE}"/>
              </a:ext>
            </a:extLst>
          </p:cNvPr>
          <p:cNvSpPr>
            <a:spLocks xmlns:a="http://schemas.openxmlformats.org/drawingml/2006/main" noGrp="1"/>
          </p:cNvSpPr>
          <p:nvPr/>
        </p:nvSpPr>
        <p:spPr>
          <a:xfrm xmlns:a="http://schemas.openxmlformats.org/drawingml/2006/main">
            <a:off x="533400" y="52197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71613"/>
                </a:solidFill>
                <a:latin typeface="Yu Gothic"/>
                <a:ea typeface="Yu Gothic"/>
                <a:cs typeface="Yu Gothic"/>
              </a:defRPr>
            </a:pPr>
            <a:r>
              <a:rPr sz="1200" b="1" i="0">
                <a:solidFill>
                  <a:srgbClr val="171613"/>
                </a:solidFill>
                <a:latin typeface="Yu Gothic"/>
                <a:ea typeface="Yu Gothic"/>
                <a:cs typeface="Yu Gothic"/>
              </a:rPr>
              <a:t>ZHU FUXIN / シュフシン</a:t>
            </a:r>
          </a:p>
        </p:txBody>
      </p:sp>
      <p:sp>
        <p:nvSpPr>
          <p:cNvPr id="10" name="text-vwzucr">
            <a:extLst xmlns:a="http://schemas.openxmlformats.org/drawingml/2006/main">
              <a:ext uri="{FF2B5EF4-FFF2-40B4-BE49-F238E27FC236}">
                <a16:creationId xmlns:a16="http://schemas.microsoft.com/office/drawing/2014/main" id="{AFF9A3B2-16FC-40AF-B3F7-6EC233813B70}"/>
              </a:ext>
            </a:extLst>
          </p:cNvPr>
          <p:cNvSpPr>
            <a:spLocks xmlns:a="http://schemas.openxmlformats.org/drawingml/2006/main" noGrp="1"/>
          </p:cNvSpPr>
          <p:nvPr/>
        </p:nvSpPr>
        <p:spPr>
          <a:xfrm xmlns:a="http://schemas.openxmlformats.org/drawingml/2006/main">
            <a:off x="533400" y="55435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i="0">
                <a:solidFill>
                  <a:srgbClr val="7D776D"/>
                </a:solidFill>
                <a:latin typeface="Consolas"/>
                <a:ea typeface="Consolas"/>
                <a:cs typeface="Consolas"/>
              </a:defRPr>
            </a:pPr>
            <a:r>
              <a:rPr sz="825" b="0" i="0">
                <a:solidFill>
                  <a:srgbClr val="7D776D"/>
                </a:solidFill>
                <a:latin typeface="Consolas"/>
                <a:ea typeface="Consolas"/>
                <a:cs typeface="Consolas"/>
              </a:rPr>
              <a:t>M25W7195  ·  WEB SERVICE  ·  2026</a:t>
            </a:r>
          </a:p>
        </p:txBody>
      </p:sp>
      <p:sp>
        <p:nvSpPr>
          <p:cNvPr id="11" name="text-vwejfv">
            <a:extLst xmlns:a="http://schemas.openxmlformats.org/drawingml/2006/main">
              <a:ext uri="{FF2B5EF4-FFF2-40B4-BE49-F238E27FC236}">
                <a16:creationId xmlns:a16="http://schemas.microsoft.com/office/drawing/2014/main" id="{9456ED79-55E5-4C20-9F45-FCE0C1D420B8}"/>
              </a:ext>
            </a:extLst>
          </p:cNvPr>
          <p:cNvSpPr>
            <a:spLocks xmlns:a="http://schemas.openxmlformats.org/drawingml/2006/main" noGrp="1"/>
          </p:cNvSpPr>
          <p:nvPr/>
        </p:nvSpPr>
        <p:spPr>
          <a:xfrm xmlns:a="http://schemas.openxmlformats.org/drawingml/2006/main">
            <a:off x="10039350" y="6286500"/>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FFFDF8"/>
                </a:solidFill>
                <a:latin typeface="Consolas"/>
                <a:ea typeface="Consolas"/>
                <a:cs typeface="Consolas"/>
              </a:defRPr>
            </a:pPr>
            <a:r>
              <a:rPr sz="750" b="0" i="0">
                <a:solidFill>
                  <a:srgbClr val="FFFDF8"/>
                </a:solidFill>
                <a:latin typeface="Consolas"/>
                <a:ea typeface="Consolas"/>
                <a:cs typeface="Consolas"/>
              </a:rPr>
              <a:t>KYOTO / 19:03</a:t>
            </a:r>
          </a:p>
        </p:txBody>
      </p:sp>
    </p:spTree>
    <p:extLst>
      <p:ext uri="{BB962C8B-B14F-4D97-AF65-F5344CB8AC3E}">
        <p14:creationId xmlns:p14="http://schemas.microsoft.com/office/powerpoint/2010/main" val="1922670305"/>
      </p:ext>
    </p:extLst>
  </p:cSld>
</p:sld>
</file>

<file path=ppt/slides/slide2.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10" name="rule-52-42">
            <a:extLst xmlns:a="http://schemas.openxmlformats.org/drawingml/2006/main">
              <a:ext uri="{FF2B5EF4-FFF2-40B4-BE49-F238E27FC236}">
                <a16:creationId xmlns:a16="http://schemas.microsoft.com/office/drawing/2014/main" id="{3D0EA155-0B20-494E-BEDD-34986E6B128F}"/>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k372bq">
            <a:extLst xmlns:a="http://schemas.openxmlformats.org/drawingml/2006/main">
              <a:ext uri="{FF2B5EF4-FFF2-40B4-BE49-F238E27FC236}">
                <a16:creationId xmlns:a16="http://schemas.microsoft.com/office/drawing/2014/main" id="{42D5F791-D826-4E1A-BAA2-7474F20B4D1F}"/>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WHY THIS PROJECT</a:t>
            </a:r>
          </a:p>
        </p:txBody>
      </p:sp>
      <p:sp>
        <p:nvSpPr>
          <p:cNvPr id="3" name="rule-52-675">
            <a:extLst xmlns:a="http://schemas.openxmlformats.org/drawingml/2006/main">
              <a:ext uri="{FF2B5EF4-FFF2-40B4-BE49-F238E27FC236}">
                <a16:creationId xmlns:a16="http://schemas.microsoft.com/office/drawing/2014/main" id="{A5A16F65-EE86-4693-A8C2-9DAA2F2328E4}"/>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csvxms">
            <a:extLst xmlns:a="http://schemas.openxmlformats.org/drawingml/2006/main">
              <a:ext uri="{FF2B5EF4-FFF2-40B4-BE49-F238E27FC236}">
                <a16:creationId xmlns:a16="http://schemas.microsoft.com/office/drawing/2014/main" id="{1C1B0B46-2966-4507-B96C-84028C7B42BD}"/>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02</a:t>
            </a:r>
          </a:p>
        </p:txBody>
      </p:sp>
      <p:sp>
        <p:nvSpPr>
          <p:cNvPr id="5" name="paper-frame-Historic windows at dusk">
            <a:extLst xmlns:a="http://schemas.openxmlformats.org/drawingml/2006/main">
              <a:ext uri="{FF2B5EF4-FFF2-40B4-BE49-F238E27FC236}">
                <a16:creationId xmlns:a16="http://schemas.microsoft.com/office/drawing/2014/main" id="{17ED1CD5-EA1C-4223-9F1E-97194BAACF51}"/>
              </a:ext>
            </a:extLst>
          </p:cNvPr>
          <p:cNvSpPr>
            <a:spLocks xmlns:a="http://schemas.openxmlformats.org/drawingml/2006/main" noGrp="1"/>
          </p:cNvSpPr>
          <p:nvPr/>
        </p:nvSpPr>
        <p:spPr>
          <a:xfrm xmlns:a="http://schemas.openxmlformats.org/drawingml/2006/main" rot="90000">
            <a:off x="7162800" y="628650"/>
            <a:ext cx="4076700" cy="516255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e26be003496473c"/>
          <a:srcRect xmlns:a="http://schemas.openxmlformats.org/drawingml/2006/main" l="0" t="3562" r="0" b="3562"/>
          <a:stretch xmlns:a="http://schemas.openxmlformats.org/drawingml/2006/main">
            <a:fillRect l="0" t="0" r="0" b="0"/>
          </a:stretch>
        </p:blipFill>
        <p:spPr>
          <a:xfrm xmlns:a="http://schemas.openxmlformats.org/drawingml/2006/main" rot="90000">
            <a:off x="7239000" y="704850"/>
            <a:ext cx="3924300" cy="4857750"/>
          </a:xfrm>
          <a:prstGeom xmlns:a="http://schemas.openxmlformats.org/drawingml/2006/main" prst="rect">
            <a:avLst/>
          </a:prstGeom>
        </p:spPr>
      </p:pic>
      <p:sp>
        <p:nvSpPr>
          <p:cNvPr id="7" name="text-i49632">
            <a:extLst xmlns:a="http://schemas.openxmlformats.org/drawingml/2006/main">
              <a:ext uri="{FF2B5EF4-FFF2-40B4-BE49-F238E27FC236}">
                <a16:creationId xmlns:a16="http://schemas.microsoft.com/office/drawing/2014/main" id="{8B9C668D-000F-4D77-A89E-C2B4558C04BB}"/>
              </a:ext>
            </a:extLst>
          </p:cNvPr>
          <p:cNvSpPr>
            <a:spLocks xmlns:a="http://schemas.openxmlformats.org/drawingml/2006/main" noGrp="1"/>
          </p:cNvSpPr>
          <p:nvPr/>
        </p:nvSpPr>
        <p:spPr>
          <a:xfrm xmlns:a="http://schemas.openxmlformats.org/drawingml/2006/main">
            <a:off x="514350" y="1066800"/>
            <a:ext cx="6000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750" b="0" i="0">
                <a:solidFill>
                  <a:srgbClr val="171613"/>
                </a:solidFill>
                <a:latin typeface="Georgia"/>
                <a:ea typeface="Georgia"/>
                <a:cs typeface="Georgia"/>
              </a:defRPr>
            </a:pPr>
            <a:r>
              <a:rPr sz="3750" b="0" i="0">
                <a:solidFill>
                  <a:srgbClr val="171613"/>
                </a:solidFill>
                <a:latin typeface="Georgia"/>
                <a:ea typeface="Georgia"/>
                <a:cs typeface="Georgia"/>
              </a:rPr>
              <a:t>Creative work often</a:t>
            </a:r>
          </a:p>
          <a:p xmlns:a="http://schemas.openxmlformats.org/drawingml/2006/main">
            <a:pPr algn="l">
              <a:lnSpc>
                <a:spcPct val="98000"/>
              </a:lnSpc>
              <a:buNone/>
              <a:defRPr sz="3750" b="0" i="0">
                <a:solidFill>
                  <a:srgbClr val="171613"/>
                </a:solidFill>
                <a:latin typeface="Georgia"/>
                <a:ea typeface="Georgia"/>
                <a:cs typeface="Georgia"/>
              </a:defRPr>
            </a:pPr>
            <a:r>
              <a:rPr sz="3750" b="0" i="0">
                <a:solidFill>
                  <a:srgbClr val="171613"/>
                </a:solidFill>
                <a:latin typeface="Georgia"/>
                <a:ea typeface="Georgia"/>
                <a:cs typeface="Georgia"/>
              </a:rPr>
              <a:t>disappears into folders.</a:t>
            </a:r>
          </a:p>
        </p:txBody>
      </p:sp>
      <p:sp>
        <p:nvSpPr>
          <p:cNvPr id="8" name="text-qm3jyk">
            <a:extLst xmlns:a="http://schemas.openxmlformats.org/drawingml/2006/main">
              <a:ext uri="{FF2B5EF4-FFF2-40B4-BE49-F238E27FC236}">
                <a16:creationId xmlns:a16="http://schemas.microsoft.com/office/drawing/2014/main" id="{3E451B4E-2C91-4717-AAB6-26BD43ABB6EF}"/>
              </a:ext>
            </a:extLst>
          </p:cNvPr>
          <p:cNvSpPr>
            <a:spLocks xmlns:a="http://schemas.openxmlformats.org/drawingml/2006/main" noGrp="1"/>
          </p:cNvSpPr>
          <p:nvPr/>
        </p:nvSpPr>
        <p:spPr>
          <a:xfrm xmlns:a="http://schemas.openxmlformats.org/drawingml/2006/main">
            <a:off x="552450" y="3009900"/>
            <a:ext cx="5334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30000"/>
              </a:lnSpc>
              <a:buNone/>
              <a:defRPr sz="1500" b="0" i="0">
                <a:solidFill>
                  <a:srgbClr val="4D4942"/>
                </a:solidFill>
                <a:latin typeface="Yu Gothic"/>
                <a:ea typeface="Yu Gothic"/>
                <a:cs typeface="Yu Gothic"/>
              </a:defRPr>
            </a:pPr>
            <a:r>
              <a:rPr sz="1500" b="0" i="0">
                <a:solidFill>
                  <a:srgbClr val="4D4942"/>
                </a:solidFill>
                <a:latin typeface="Yu Gothic"/>
                <a:ea typeface="Yu Gothic"/>
                <a:cs typeface="Yu Gothic"/>
              </a:rPr>
              <a:t>Photographs, sketches, design experiments, and class projects may be finished, but they are rarely arranged for another person to experience.</a:t>
            </a:r>
          </a:p>
        </p:txBody>
      </p:sp>
      <p:sp>
        <p:nvSpPr>
          <p:cNvPr id="9" name="text-auhz3b">
            <a:extLst xmlns:a="http://schemas.openxmlformats.org/drawingml/2006/main">
              <a:ext uri="{FF2B5EF4-FFF2-40B4-BE49-F238E27FC236}">
                <a16:creationId xmlns:a16="http://schemas.microsoft.com/office/drawing/2014/main" id="{4591B42A-F2EE-4A51-8EA7-0D9128626820}"/>
              </a:ext>
            </a:extLst>
          </p:cNvPr>
          <p:cNvSpPr>
            <a:spLocks xmlns:a="http://schemas.openxmlformats.org/drawingml/2006/main" noGrp="1"/>
          </p:cNvSpPr>
          <p:nvPr/>
        </p:nvSpPr>
        <p:spPr>
          <a:xfrm xmlns:a="http://schemas.openxmlformats.org/drawingml/2006/main">
            <a:off x="552450" y="4629150"/>
            <a:ext cx="533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A82F22"/>
                </a:solidFill>
                <a:latin typeface="Georgia"/>
                <a:ea typeface="Georgia"/>
                <a:cs typeface="Georgia"/>
              </a:defRPr>
            </a:pPr>
            <a:r>
              <a:rPr sz="1800" b="1" i="0">
                <a:solidFill>
                  <a:srgbClr val="A82F22"/>
                </a:solidFill>
                <a:latin typeface="Georgia"/>
                <a:ea typeface="Georgia"/>
                <a:cs typeface="Georgia"/>
              </a:rPr>
              <a:t>The problem is not storage.</a:t>
            </a:r>
          </a:p>
          <a:p xmlns:a="http://schemas.openxmlformats.org/drawingml/2006/main">
            <a:pPr algn="l">
              <a:lnSpc>
                <a:spcPct val="112000"/>
              </a:lnSpc>
              <a:buNone/>
              <a:defRPr sz="1800" b="1" i="0">
                <a:solidFill>
                  <a:srgbClr val="A82F22"/>
                </a:solidFill>
                <a:latin typeface="Georgia"/>
                <a:ea typeface="Georgia"/>
                <a:cs typeface="Georgia"/>
              </a:defRPr>
            </a:pPr>
            <a:r>
              <a:rPr sz="1800" b="1" i="0">
                <a:solidFill>
                  <a:srgbClr val="A82F22"/>
                </a:solidFill>
                <a:latin typeface="Georgia"/>
                <a:ea typeface="Georgia"/>
                <a:cs typeface="Georgia"/>
              </a:rPr>
              <a:t>The problem is presentation.</a:t>
            </a:r>
          </a:p>
        </p:txBody>
      </p:sp>
    </p:spTree>
    <p:extLst>
      <p:ext uri="{BB962C8B-B14F-4D97-AF65-F5344CB8AC3E}">
        <p14:creationId xmlns:p14="http://schemas.microsoft.com/office/powerpoint/2010/main" val="810222944"/>
      </p:ext>
    </p:extLst>
  </p:cSld>
</p:sld>
</file>

<file path=ppt/slides/slide3.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18" name="rule-52-42">
            <a:extLst xmlns:a="http://schemas.openxmlformats.org/drawingml/2006/main">
              <a:ext uri="{FF2B5EF4-FFF2-40B4-BE49-F238E27FC236}">
                <a16:creationId xmlns:a16="http://schemas.microsoft.com/office/drawing/2014/main" id="{AFB58632-430E-4606-8655-B944D9658C02}"/>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yhwdky">
            <a:extLst xmlns:a="http://schemas.openxmlformats.org/drawingml/2006/main">
              <a:ext uri="{FF2B5EF4-FFF2-40B4-BE49-F238E27FC236}">
                <a16:creationId xmlns:a16="http://schemas.microsoft.com/office/drawing/2014/main" id="{3D1F0B60-6DA1-4264-8317-9C335E908D00}"/>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PRODUCT IDEA</a:t>
            </a:r>
          </a:p>
        </p:txBody>
      </p:sp>
      <p:sp>
        <p:nvSpPr>
          <p:cNvPr id="3" name="rule-52-675">
            <a:extLst xmlns:a="http://schemas.openxmlformats.org/drawingml/2006/main">
              <a:ext uri="{FF2B5EF4-FFF2-40B4-BE49-F238E27FC236}">
                <a16:creationId xmlns:a16="http://schemas.microsoft.com/office/drawing/2014/main" id="{03C29B8B-922C-410A-96D8-296BB67B7A59}"/>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xchhpi">
            <a:extLst xmlns:a="http://schemas.openxmlformats.org/drawingml/2006/main">
              <a:ext uri="{FF2B5EF4-FFF2-40B4-BE49-F238E27FC236}">
                <a16:creationId xmlns:a16="http://schemas.microsoft.com/office/drawing/2014/main" id="{35FCF22B-2940-46CB-9C06-F58FD934335E}"/>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03</a:t>
            </a:r>
          </a:p>
        </p:txBody>
      </p:sp>
      <p:sp>
        <p:nvSpPr>
          <p:cNvPr id="5" name="text-e8nvve">
            <a:extLst xmlns:a="http://schemas.openxmlformats.org/drawingml/2006/main">
              <a:ext uri="{FF2B5EF4-FFF2-40B4-BE49-F238E27FC236}">
                <a16:creationId xmlns:a16="http://schemas.microsoft.com/office/drawing/2014/main" id="{5C37B93C-3BF5-4794-83C2-3DC1125D332D}"/>
              </a:ext>
            </a:extLst>
          </p:cNvPr>
          <p:cNvSpPr>
            <a:spLocks xmlns:a="http://schemas.openxmlformats.org/drawingml/2006/main" noGrp="1"/>
          </p:cNvSpPr>
          <p:nvPr/>
        </p:nvSpPr>
        <p:spPr>
          <a:xfrm xmlns:a="http://schemas.openxmlformats.org/drawingml/2006/main">
            <a:off x="495300" y="742950"/>
            <a:ext cx="952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600" b="0" i="0">
                <a:solidFill>
                  <a:srgbClr val="171613"/>
                </a:solidFill>
                <a:latin typeface="Georgia"/>
                <a:ea typeface="Georgia"/>
                <a:cs typeface="Georgia"/>
              </a:defRPr>
            </a:pPr>
            <a:r>
              <a:rPr sz="3600" b="0" i="0">
                <a:solidFill>
                  <a:srgbClr val="171613"/>
                </a:solidFill>
                <a:latin typeface="Georgia"/>
                <a:ea typeface="Georgia"/>
                <a:cs typeface="Georgia"/>
              </a:rPr>
              <a:t>A portfolio shaped by everyday context.</a:t>
            </a:r>
          </a:p>
        </p:txBody>
      </p:sp>
      <p:sp>
        <p:nvSpPr>
          <p:cNvPr id="6" name="text-pujau9">
            <a:extLst xmlns:a="http://schemas.openxmlformats.org/drawingml/2006/main">
              <a:ext uri="{FF2B5EF4-FFF2-40B4-BE49-F238E27FC236}">
                <a16:creationId xmlns:a16="http://schemas.microsoft.com/office/drawing/2014/main" id="{98A234D7-C269-4875-B4C7-09B678696941}"/>
              </a:ext>
            </a:extLst>
          </p:cNvPr>
          <p:cNvSpPr>
            <a:spLocks xmlns:a="http://schemas.openxmlformats.org/drawingml/2006/main" noGrp="1"/>
          </p:cNvSpPr>
          <p:nvPr/>
        </p:nvSpPr>
        <p:spPr>
          <a:xfrm xmlns:a="http://schemas.openxmlformats.org/drawingml/2006/main">
            <a:off x="533400" y="18669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4D4942"/>
                </a:solidFill>
                <a:latin typeface="Yu Gothic"/>
                <a:ea typeface="Yu Gothic"/>
                <a:cs typeface="Yu Gothic"/>
              </a:defRPr>
            </a:pPr>
            <a:r>
              <a:rPr sz="1350" b="0" i="0">
                <a:solidFill>
                  <a:srgbClr val="4D4942"/>
                </a:solidFill>
                <a:latin typeface="Yu Gothic"/>
                <a:ea typeface="Yu Gothic"/>
                <a:cs typeface="Yu Gothic"/>
              </a:rPr>
              <a:t>CampusFlow connects what a person makes with the place and conditions around it.</a:t>
            </a:r>
          </a:p>
        </p:txBody>
      </p:sp>
      <p:sp>
        <p:nvSpPr>
          <p:cNvPr id="7" name="rule-58-285">
            <a:extLst xmlns:a="http://schemas.openxmlformats.org/drawingml/2006/main">
              <a:ext uri="{FF2B5EF4-FFF2-40B4-BE49-F238E27FC236}">
                <a16:creationId xmlns:a16="http://schemas.microsoft.com/office/drawing/2014/main" id="{D10FA197-3A40-4555-A4DC-5CEE7070B5D9}"/>
              </a:ext>
            </a:extLst>
          </p:cNvPr>
          <p:cNvSpPr>
            <a:spLocks xmlns:a="http://schemas.openxmlformats.org/drawingml/2006/main" noGrp="1"/>
          </p:cNvSpPr>
          <p:nvPr/>
        </p:nvSpPr>
        <p:spPr>
          <a:xfrm xmlns:a="http://schemas.openxmlformats.org/drawingml/2006/main">
            <a:off x="552450" y="2714625"/>
            <a:ext cx="1057275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8" name="text-u5qtv9">
            <a:extLst xmlns:a="http://schemas.openxmlformats.org/drawingml/2006/main">
              <a:ext uri="{FF2B5EF4-FFF2-40B4-BE49-F238E27FC236}">
                <a16:creationId xmlns:a16="http://schemas.microsoft.com/office/drawing/2014/main" id="{EFF74BE5-AEA9-4755-9DB8-EFFA05D16151}"/>
              </a:ext>
            </a:extLst>
          </p:cNvPr>
          <p:cNvSpPr>
            <a:spLocks xmlns:a="http://schemas.openxmlformats.org/drawingml/2006/main" noGrp="1"/>
          </p:cNvSpPr>
          <p:nvPr/>
        </p:nvSpPr>
        <p:spPr>
          <a:xfrm xmlns:a="http://schemas.openxmlformats.org/drawingml/2006/main">
            <a:off x="552450" y="31813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01</a:t>
            </a:r>
          </a:p>
        </p:txBody>
      </p:sp>
      <p:sp>
        <p:nvSpPr>
          <p:cNvPr id="9" name="text-7xluy7">
            <a:extLst xmlns:a="http://schemas.openxmlformats.org/drawingml/2006/main">
              <a:ext uri="{FF2B5EF4-FFF2-40B4-BE49-F238E27FC236}">
                <a16:creationId xmlns:a16="http://schemas.microsoft.com/office/drawing/2014/main" id="{BEF7F83A-E9CA-4B09-8520-7541CDFEB82F}"/>
              </a:ext>
            </a:extLst>
          </p:cNvPr>
          <p:cNvSpPr>
            <a:spLocks xmlns:a="http://schemas.openxmlformats.org/drawingml/2006/main" noGrp="1"/>
          </p:cNvSpPr>
          <p:nvPr/>
        </p:nvSpPr>
        <p:spPr>
          <a:xfrm xmlns:a="http://schemas.openxmlformats.org/drawingml/2006/main">
            <a:off x="990600" y="3152775"/>
            <a:ext cx="2895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Today</a:t>
            </a:r>
          </a:p>
        </p:txBody>
      </p:sp>
      <p:sp>
        <p:nvSpPr>
          <p:cNvPr id="10" name="text-egad0y">
            <a:extLst xmlns:a="http://schemas.openxmlformats.org/drawingml/2006/main">
              <a:ext uri="{FF2B5EF4-FFF2-40B4-BE49-F238E27FC236}">
                <a16:creationId xmlns:a16="http://schemas.microsoft.com/office/drawing/2014/main" id="{F605CF36-97A3-40CC-BC7B-001317806D21}"/>
              </a:ext>
            </a:extLst>
          </p:cNvPr>
          <p:cNvSpPr>
            <a:spLocks xmlns:a="http://schemas.openxmlformats.org/drawingml/2006/main" noGrp="1"/>
          </p:cNvSpPr>
          <p:nvPr/>
        </p:nvSpPr>
        <p:spPr>
          <a:xfrm xmlns:a="http://schemas.openxmlformats.org/drawingml/2006/main">
            <a:off x="990600" y="3467100"/>
            <a:ext cx="2895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Location, weather, country information, and a small piece of practical advice.</a:t>
            </a:r>
          </a:p>
        </p:txBody>
      </p:sp>
      <p:sp>
        <p:nvSpPr>
          <p:cNvPr id="11" name="text-81tqj0">
            <a:extLst xmlns:a="http://schemas.openxmlformats.org/drawingml/2006/main">
              <a:ext uri="{FF2B5EF4-FFF2-40B4-BE49-F238E27FC236}">
                <a16:creationId xmlns:a16="http://schemas.microsoft.com/office/drawing/2014/main" id="{936E1826-561A-4C97-B75A-B83E72ECAD59}"/>
              </a:ext>
            </a:extLst>
          </p:cNvPr>
          <p:cNvSpPr>
            <a:spLocks xmlns:a="http://schemas.openxmlformats.org/drawingml/2006/main" noGrp="1"/>
          </p:cNvSpPr>
          <p:nvPr/>
        </p:nvSpPr>
        <p:spPr>
          <a:xfrm xmlns:a="http://schemas.openxmlformats.org/drawingml/2006/main">
            <a:off x="4362450" y="31813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02</a:t>
            </a:r>
          </a:p>
        </p:txBody>
      </p:sp>
      <p:sp>
        <p:nvSpPr>
          <p:cNvPr id="12" name="text-zc46tf">
            <a:extLst xmlns:a="http://schemas.openxmlformats.org/drawingml/2006/main">
              <a:ext uri="{FF2B5EF4-FFF2-40B4-BE49-F238E27FC236}">
                <a16:creationId xmlns:a16="http://schemas.microsoft.com/office/drawing/2014/main" id="{A5D0D172-85AC-44C1-89B4-6206CDAF3E55}"/>
              </a:ext>
            </a:extLst>
          </p:cNvPr>
          <p:cNvSpPr>
            <a:spLocks xmlns:a="http://schemas.openxmlformats.org/drawingml/2006/main" noGrp="1"/>
          </p:cNvSpPr>
          <p:nvPr/>
        </p:nvSpPr>
        <p:spPr>
          <a:xfrm xmlns:a="http://schemas.openxmlformats.org/drawingml/2006/main">
            <a:off x="4800600" y="3152775"/>
            <a:ext cx="2895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Portfolio</a:t>
            </a:r>
          </a:p>
        </p:txBody>
      </p:sp>
      <p:sp>
        <p:nvSpPr>
          <p:cNvPr id="13" name="text-coed1t">
            <a:extLst xmlns:a="http://schemas.openxmlformats.org/drawingml/2006/main">
              <a:ext uri="{FF2B5EF4-FFF2-40B4-BE49-F238E27FC236}">
                <a16:creationId xmlns:a16="http://schemas.microsoft.com/office/drawing/2014/main" id="{A4FFEFCC-DA33-4F82-A11C-D16C2A5F8FB0}"/>
              </a:ext>
            </a:extLst>
          </p:cNvPr>
          <p:cNvSpPr>
            <a:spLocks xmlns:a="http://schemas.openxmlformats.org/drawingml/2006/main" noGrp="1"/>
          </p:cNvSpPr>
          <p:nvPr/>
        </p:nvSpPr>
        <p:spPr>
          <a:xfrm xmlns:a="http://schemas.openxmlformats.org/drawingml/2006/main">
            <a:off x="4800600" y="3467100"/>
            <a:ext cx="2895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A public visual diary for photography, drawing, design, or mixed creative work.</a:t>
            </a:r>
          </a:p>
        </p:txBody>
      </p:sp>
      <p:sp>
        <p:nvSpPr>
          <p:cNvPr id="14" name="text-k41cs6">
            <a:extLst xmlns:a="http://schemas.openxmlformats.org/drawingml/2006/main">
              <a:ext uri="{FF2B5EF4-FFF2-40B4-BE49-F238E27FC236}">
                <a16:creationId xmlns:a16="http://schemas.microsoft.com/office/drawing/2014/main" id="{0E7D7D1C-F314-4C68-BE97-502F2F9826C3}"/>
              </a:ext>
            </a:extLst>
          </p:cNvPr>
          <p:cNvSpPr>
            <a:spLocks xmlns:a="http://schemas.openxmlformats.org/drawingml/2006/main" noGrp="1"/>
          </p:cNvSpPr>
          <p:nvPr/>
        </p:nvSpPr>
        <p:spPr>
          <a:xfrm xmlns:a="http://schemas.openxmlformats.org/drawingml/2006/main">
            <a:off x="8172450" y="31813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03</a:t>
            </a:r>
          </a:p>
        </p:txBody>
      </p:sp>
      <p:sp>
        <p:nvSpPr>
          <p:cNvPr id="15" name="text-grz4kp">
            <a:extLst xmlns:a="http://schemas.openxmlformats.org/drawingml/2006/main">
              <a:ext uri="{FF2B5EF4-FFF2-40B4-BE49-F238E27FC236}">
                <a16:creationId xmlns:a16="http://schemas.microsoft.com/office/drawing/2014/main" id="{D09B809C-53C6-4833-AB3A-479979FDA659}"/>
              </a:ext>
            </a:extLst>
          </p:cNvPr>
          <p:cNvSpPr>
            <a:spLocks xmlns:a="http://schemas.openxmlformats.org/drawingml/2006/main" noGrp="1"/>
          </p:cNvSpPr>
          <p:nvPr/>
        </p:nvSpPr>
        <p:spPr>
          <a:xfrm xmlns:a="http://schemas.openxmlformats.org/drawingml/2006/main">
            <a:off x="8610600" y="3152775"/>
            <a:ext cx="2895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Account</a:t>
            </a:r>
          </a:p>
        </p:txBody>
      </p:sp>
      <p:sp>
        <p:nvSpPr>
          <p:cNvPr id="16" name="text-rdoe8l">
            <a:extLst xmlns:a="http://schemas.openxmlformats.org/drawingml/2006/main">
              <a:ext uri="{FF2B5EF4-FFF2-40B4-BE49-F238E27FC236}">
                <a16:creationId xmlns:a16="http://schemas.microsoft.com/office/drawing/2014/main" id="{2DCB71D1-588E-4A07-B430-BFD3ADD1E4BF}"/>
              </a:ext>
            </a:extLst>
          </p:cNvPr>
          <p:cNvSpPr>
            <a:spLocks xmlns:a="http://schemas.openxmlformats.org/drawingml/2006/main" noGrp="1"/>
          </p:cNvSpPr>
          <p:nvPr/>
        </p:nvSpPr>
        <p:spPr>
          <a:xfrm xmlns:a="http://schemas.openxmlformats.org/drawingml/2006/main">
            <a:off x="8610600" y="3467100"/>
            <a:ext cx="2895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Registration, sign-in, profile editing, saved places, and owned portfolio items.</a:t>
            </a:r>
          </a:p>
        </p:txBody>
      </p:sp>
      <p:sp>
        <p:nvSpPr>
          <p:cNvPr id="17" name="text-3izbqw">
            <a:extLst xmlns:a="http://schemas.openxmlformats.org/drawingml/2006/main">
              <a:ext uri="{FF2B5EF4-FFF2-40B4-BE49-F238E27FC236}">
                <a16:creationId xmlns:a16="http://schemas.microsoft.com/office/drawing/2014/main" id="{EFD2E94B-EAD2-495E-8018-685880186F83}"/>
              </a:ext>
            </a:extLst>
          </p:cNvPr>
          <p:cNvSpPr>
            <a:spLocks xmlns:a="http://schemas.openxmlformats.org/drawingml/2006/main" noGrp="1"/>
          </p:cNvSpPr>
          <p:nvPr/>
        </p:nvSpPr>
        <p:spPr>
          <a:xfrm xmlns:a="http://schemas.openxmlformats.org/drawingml/2006/main">
            <a:off x="552450" y="54673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A82F22"/>
                </a:solidFill>
                <a:latin typeface="Consolas"/>
                <a:ea typeface="Consolas"/>
                <a:cs typeface="Consolas"/>
              </a:defRPr>
            </a:pPr>
            <a:r>
              <a:rPr sz="1050" b="1" i="0">
                <a:solidFill>
                  <a:srgbClr val="A82F22"/>
                </a:solidFill>
                <a:latin typeface="Consolas"/>
                <a:ea typeface="Consolas"/>
                <a:cs typeface="Consolas"/>
              </a:rPr>
              <a:t>NOT A FORUM  ·  NOT A SCHOOL DASHBOARD  ·  A PERSONAL EXHIBITION SERVICE</a:t>
            </a:r>
          </a:p>
        </p:txBody>
      </p:sp>
    </p:spTree>
    <p:extLst>
      <p:ext uri="{BB962C8B-B14F-4D97-AF65-F5344CB8AC3E}">
        <p14:creationId xmlns:p14="http://schemas.microsoft.com/office/powerpoint/2010/main" val="1796808997"/>
      </p:ext>
    </p:extLst>
  </p:cSld>
</p:sld>
</file>

<file path=ppt/slides/slide4.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25" name="rule-52-42">
            <a:extLst xmlns:a="http://schemas.openxmlformats.org/drawingml/2006/main">
              <a:ext uri="{FF2B5EF4-FFF2-40B4-BE49-F238E27FC236}">
                <a16:creationId xmlns:a16="http://schemas.microsoft.com/office/drawing/2014/main" id="{4FB89203-333E-4EBE-9D69-1BA0E5025B87}"/>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di0664">
            <a:extLst xmlns:a="http://schemas.openxmlformats.org/drawingml/2006/main">
              <a:ext uri="{FF2B5EF4-FFF2-40B4-BE49-F238E27FC236}">
                <a16:creationId xmlns:a16="http://schemas.microsoft.com/office/drawing/2014/main" id="{6B450593-C932-4939-852B-BEB76DF69461}"/>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USER JOURNEY</a:t>
            </a:r>
          </a:p>
        </p:txBody>
      </p:sp>
      <p:sp>
        <p:nvSpPr>
          <p:cNvPr id="3" name="rule-52-675">
            <a:extLst xmlns:a="http://schemas.openxmlformats.org/drawingml/2006/main">
              <a:ext uri="{FF2B5EF4-FFF2-40B4-BE49-F238E27FC236}">
                <a16:creationId xmlns:a16="http://schemas.microsoft.com/office/drawing/2014/main" id="{F08E0844-07D1-44CE-8276-5CF6E0DC5391}"/>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vvx6ds">
            <a:extLst xmlns:a="http://schemas.openxmlformats.org/drawingml/2006/main">
              <a:ext uri="{FF2B5EF4-FFF2-40B4-BE49-F238E27FC236}">
                <a16:creationId xmlns:a16="http://schemas.microsoft.com/office/drawing/2014/main" id="{E9E5E9CC-908A-4004-88D7-8567122F216C}"/>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04</a:t>
            </a:r>
          </a:p>
        </p:txBody>
      </p:sp>
      <p:sp>
        <p:nvSpPr>
          <p:cNvPr id="5" name="paper-frame-Cherry trees beside the river">
            <a:extLst xmlns:a="http://schemas.openxmlformats.org/drawingml/2006/main">
              <a:ext uri="{FF2B5EF4-FFF2-40B4-BE49-F238E27FC236}">
                <a16:creationId xmlns:a16="http://schemas.microsoft.com/office/drawing/2014/main" id="{2C25FCB0-F6DC-4603-AA74-18B83835F29B}"/>
              </a:ext>
            </a:extLst>
          </p:cNvPr>
          <p:cNvSpPr>
            <a:spLocks xmlns:a="http://schemas.openxmlformats.org/drawingml/2006/main" noGrp="1"/>
          </p:cNvSpPr>
          <p:nvPr/>
        </p:nvSpPr>
        <p:spPr>
          <a:xfrm xmlns:a="http://schemas.openxmlformats.org/drawingml/2006/main" rot="-60000">
            <a:off x="476250" y="742950"/>
            <a:ext cx="4200525" cy="516255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4eb64c49cd94e83"/>
          <a:srcRect xmlns:a="http://schemas.openxmlformats.org/drawingml/2006/main" l="0" t="4982" r="0" b="4982"/>
          <a:stretch xmlns:a="http://schemas.openxmlformats.org/drawingml/2006/main">
            <a:fillRect l="0" t="0" r="0" b="0"/>
          </a:stretch>
        </p:blipFill>
        <p:spPr>
          <a:xfrm xmlns:a="http://schemas.openxmlformats.org/drawingml/2006/main" rot="-60000">
            <a:off x="552450" y="819150"/>
            <a:ext cx="4048125" cy="4857750"/>
          </a:xfrm>
          <a:prstGeom xmlns:a="http://schemas.openxmlformats.org/drawingml/2006/main" prst="rect">
            <a:avLst/>
          </a:prstGeom>
        </p:spPr>
      </p:pic>
      <p:sp>
        <p:nvSpPr>
          <p:cNvPr id="7" name="text-tpppw9">
            <a:extLst xmlns:a="http://schemas.openxmlformats.org/drawingml/2006/main">
              <a:ext uri="{FF2B5EF4-FFF2-40B4-BE49-F238E27FC236}">
                <a16:creationId xmlns:a16="http://schemas.microsoft.com/office/drawing/2014/main" id="{9076DBA5-A0D1-4036-9DAE-6D4245FEA3E4}"/>
              </a:ext>
            </a:extLst>
          </p:cNvPr>
          <p:cNvSpPr>
            <a:spLocks xmlns:a="http://schemas.openxmlformats.org/drawingml/2006/main" noGrp="1"/>
          </p:cNvSpPr>
          <p:nvPr/>
        </p:nvSpPr>
        <p:spPr>
          <a:xfrm xmlns:a="http://schemas.openxmlformats.org/drawingml/2006/main">
            <a:off x="5219700" y="895350"/>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300" b="0" i="0">
                <a:solidFill>
                  <a:srgbClr val="171613"/>
                </a:solidFill>
                <a:latin typeface="Georgia"/>
                <a:ea typeface="Georgia"/>
                <a:cs typeface="Georgia"/>
              </a:defRPr>
            </a:pPr>
            <a:r>
              <a:rPr sz="3300" b="0" i="0">
                <a:solidFill>
                  <a:srgbClr val="171613"/>
                </a:solidFill>
                <a:latin typeface="Georgia"/>
                <a:ea typeface="Georgia"/>
                <a:cs typeface="Georgia"/>
              </a:rPr>
              <a:t>One continuous path</a:t>
            </a:r>
          </a:p>
          <a:p xmlns:a="http://schemas.openxmlformats.org/drawingml/2006/main">
            <a:pPr algn="l">
              <a:lnSpc>
                <a:spcPct val="98000"/>
              </a:lnSpc>
              <a:buNone/>
              <a:defRPr sz="3300" b="0" i="0">
                <a:solidFill>
                  <a:srgbClr val="171613"/>
                </a:solidFill>
                <a:latin typeface="Georgia"/>
                <a:ea typeface="Georgia"/>
                <a:cs typeface="Georgia"/>
              </a:defRPr>
            </a:pPr>
            <a:r>
              <a:rPr sz="3300" b="0" i="0">
                <a:solidFill>
                  <a:srgbClr val="171613"/>
                </a:solidFill>
                <a:latin typeface="Georgia"/>
                <a:ea typeface="Georgia"/>
                <a:cs typeface="Georgia"/>
              </a:rPr>
              <a:t>from viewing to publishing.</a:t>
            </a:r>
          </a:p>
        </p:txBody>
      </p:sp>
      <p:sp>
        <p:nvSpPr>
          <p:cNvPr id="8" name="rule-552-326">
            <a:extLst xmlns:a="http://schemas.openxmlformats.org/drawingml/2006/main">
              <a:ext uri="{FF2B5EF4-FFF2-40B4-BE49-F238E27FC236}">
                <a16:creationId xmlns:a16="http://schemas.microsoft.com/office/drawing/2014/main" id="{63B2644E-0BBB-42C4-8424-05BB092E9AF1}"/>
              </a:ext>
            </a:extLst>
          </p:cNvPr>
          <p:cNvSpPr>
            <a:spLocks xmlns:a="http://schemas.openxmlformats.org/drawingml/2006/main" noGrp="1"/>
          </p:cNvSpPr>
          <p:nvPr/>
        </p:nvSpPr>
        <p:spPr>
          <a:xfrm xmlns:a="http://schemas.openxmlformats.org/drawingml/2006/main">
            <a:off x="5257800" y="3105150"/>
            <a:ext cx="55626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9" name="text-qy91cr">
            <a:extLst xmlns:a="http://schemas.openxmlformats.org/drawingml/2006/main">
              <a:ext uri="{FF2B5EF4-FFF2-40B4-BE49-F238E27FC236}">
                <a16:creationId xmlns:a16="http://schemas.microsoft.com/office/drawing/2014/main" id="{C247663B-1DDE-4C1D-9C1C-8E413A0B041F}"/>
              </a:ext>
            </a:extLst>
          </p:cNvPr>
          <p:cNvSpPr>
            <a:spLocks xmlns:a="http://schemas.openxmlformats.org/drawingml/2006/main" noGrp="1"/>
          </p:cNvSpPr>
          <p:nvPr/>
        </p:nvSpPr>
        <p:spPr>
          <a:xfrm xmlns:a="http://schemas.openxmlformats.org/drawingml/2006/main">
            <a:off x="6477000" y="29051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75" b="0" i="0">
                <a:solidFill>
                  <a:srgbClr val="D84A32"/>
                </a:solidFill>
                <a:latin typeface="Georgia"/>
                <a:ea typeface="Georgia"/>
                <a:cs typeface="Georgia"/>
              </a:defRPr>
            </a:pPr>
            <a:r>
              <a:rPr sz="1875" b="0" i="0">
                <a:solidFill>
                  <a:srgbClr val="D84A32"/>
                </a:solidFill>
                <a:latin typeface="Georgia"/>
                <a:ea typeface="Georgia"/>
                <a:cs typeface="Georgia"/>
              </a:rPr>
              <a:t>→</a:t>
            </a:r>
          </a:p>
        </p:txBody>
      </p:sp>
      <p:sp>
        <p:nvSpPr>
          <p:cNvPr id="10" name="text-ceayf0">
            <a:extLst xmlns:a="http://schemas.openxmlformats.org/drawingml/2006/main">
              <a:ext uri="{FF2B5EF4-FFF2-40B4-BE49-F238E27FC236}">
                <a16:creationId xmlns:a16="http://schemas.microsoft.com/office/drawing/2014/main" id="{C97F17D1-A709-40D2-B29E-AD70829F99B2}"/>
              </a:ext>
            </a:extLst>
          </p:cNvPr>
          <p:cNvSpPr>
            <a:spLocks xmlns:a="http://schemas.openxmlformats.org/drawingml/2006/main" noGrp="1"/>
          </p:cNvSpPr>
          <p:nvPr/>
        </p:nvSpPr>
        <p:spPr>
          <a:xfrm xmlns:a="http://schemas.openxmlformats.org/drawingml/2006/main">
            <a:off x="7858125" y="29051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75" b="0" i="0">
                <a:solidFill>
                  <a:srgbClr val="D84A32"/>
                </a:solidFill>
                <a:latin typeface="Georgia"/>
                <a:ea typeface="Georgia"/>
                <a:cs typeface="Georgia"/>
              </a:defRPr>
            </a:pPr>
            <a:r>
              <a:rPr sz="1875" b="0" i="0">
                <a:solidFill>
                  <a:srgbClr val="D84A32"/>
                </a:solidFill>
                <a:latin typeface="Georgia"/>
                <a:ea typeface="Georgia"/>
                <a:cs typeface="Georgia"/>
              </a:rPr>
              <a:t>→</a:t>
            </a:r>
          </a:p>
        </p:txBody>
      </p:sp>
      <p:sp>
        <p:nvSpPr>
          <p:cNvPr id="11" name="text-ppq683">
            <a:extLst xmlns:a="http://schemas.openxmlformats.org/drawingml/2006/main">
              <a:ext uri="{FF2B5EF4-FFF2-40B4-BE49-F238E27FC236}">
                <a16:creationId xmlns:a16="http://schemas.microsoft.com/office/drawing/2014/main" id="{78D00C21-C4BB-447D-ACBE-AB183C7EA801}"/>
              </a:ext>
            </a:extLst>
          </p:cNvPr>
          <p:cNvSpPr>
            <a:spLocks xmlns:a="http://schemas.openxmlformats.org/drawingml/2006/main" noGrp="1"/>
          </p:cNvSpPr>
          <p:nvPr/>
        </p:nvSpPr>
        <p:spPr>
          <a:xfrm xmlns:a="http://schemas.openxmlformats.org/drawingml/2006/main">
            <a:off x="9239250" y="29051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75" b="0" i="0">
                <a:solidFill>
                  <a:srgbClr val="D84A32"/>
                </a:solidFill>
                <a:latin typeface="Georgia"/>
                <a:ea typeface="Georgia"/>
                <a:cs typeface="Georgia"/>
              </a:defRPr>
            </a:pPr>
            <a:r>
              <a:rPr sz="1875" b="0" i="0">
                <a:solidFill>
                  <a:srgbClr val="D84A32"/>
                </a:solidFill>
                <a:latin typeface="Georgia"/>
                <a:ea typeface="Georgia"/>
                <a:cs typeface="Georgia"/>
              </a:rPr>
              <a:t>→</a:t>
            </a:r>
          </a:p>
        </p:txBody>
      </p:sp>
      <p:sp>
        <p:nvSpPr>
          <p:cNvPr id="12" name="text-bh8q74">
            <a:extLst xmlns:a="http://schemas.openxmlformats.org/drawingml/2006/main">
              <a:ext uri="{FF2B5EF4-FFF2-40B4-BE49-F238E27FC236}">
                <a16:creationId xmlns:a16="http://schemas.microsoft.com/office/drawing/2014/main" id="{837AF52E-5984-4E50-8AD1-DB6EB7D01FAD}"/>
              </a:ext>
            </a:extLst>
          </p:cNvPr>
          <p:cNvSpPr>
            <a:spLocks xmlns:a="http://schemas.openxmlformats.org/drawingml/2006/main" noGrp="1"/>
          </p:cNvSpPr>
          <p:nvPr/>
        </p:nvSpPr>
        <p:spPr>
          <a:xfrm xmlns:a="http://schemas.openxmlformats.org/drawingml/2006/main">
            <a:off x="5219700" y="2686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01</a:t>
            </a:r>
          </a:p>
        </p:txBody>
      </p:sp>
      <p:sp>
        <p:nvSpPr>
          <p:cNvPr id="13" name="text-qy8y3x">
            <a:extLst xmlns:a="http://schemas.openxmlformats.org/drawingml/2006/main">
              <a:ext uri="{FF2B5EF4-FFF2-40B4-BE49-F238E27FC236}">
                <a16:creationId xmlns:a16="http://schemas.microsoft.com/office/drawing/2014/main" id="{9A992B04-7F2C-49A8-B0CE-E2EAC9D8F422}"/>
              </a:ext>
            </a:extLst>
          </p:cNvPr>
          <p:cNvSpPr>
            <a:spLocks xmlns:a="http://schemas.openxmlformats.org/drawingml/2006/main" noGrp="1"/>
          </p:cNvSpPr>
          <p:nvPr/>
        </p:nvSpPr>
        <p:spPr>
          <a:xfrm xmlns:a="http://schemas.openxmlformats.org/drawingml/2006/main">
            <a:off x="5219700" y="335280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71613"/>
                </a:solidFill>
                <a:latin typeface="Yu Gothic"/>
                <a:ea typeface="Yu Gothic"/>
                <a:cs typeface="Yu Gothic"/>
              </a:defRPr>
            </a:pPr>
            <a:r>
              <a:rPr sz="1500" b="1" i="0">
                <a:solidFill>
                  <a:srgbClr val="171613"/>
                </a:solidFill>
                <a:latin typeface="Yu Gothic"/>
                <a:ea typeface="Yu Gothic"/>
                <a:cs typeface="Yu Gothic"/>
              </a:rPr>
              <a:t>Browse</a:t>
            </a:r>
          </a:p>
        </p:txBody>
      </p:sp>
      <p:sp>
        <p:nvSpPr>
          <p:cNvPr id="14" name="text-0u8psg">
            <a:extLst xmlns:a="http://schemas.openxmlformats.org/drawingml/2006/main">
              <a:ext uri="{FF2B5EF4-FFF2-40B4-BE49-F238E27FC236}">
                <a16:creationId xmlns:a16="http://schemas.microsoft.com/office/drawing/2014/main" id="{284C0A98-B743-40B3-9D58-6C99016E1966}"/>
              </a:ext>
            </a:extLst>
          </p:cNvPr>
          <p:cNvSpPr>
            <a:spLocks xmlns:a="http://schemas.openxmlformats.org/drawingml/2006/main" noGrp="1"/>
          </p:cNvSpPr>
          <p:nvPr/>
        </p:nvSpPr>
        <p:spPr>
          <a:xfrm xmlns:a="http://schemas.openxmlformats.org/drawingml/2006/main">
            <a:off x="5219700" y="3752850"/>
            <a:ext cx="13144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050" b="0" i="0">
                <a:solidFill>
                  <a:srgbClr val="4D4942"/>
                </a:solidFill>
                <a:latin typeface="Yu Gothic"/>
                <a:ea typeface="Yu Gothic"/>
                <a:cs typeface="Yu Gothic"/>
              </a:defRPr>
            </a:pPr>
            <a:r>
              <a:rPr sz="1050" b="0" i="0">
                <a:solidFill>
                  <a:srgbClr val="4D4942"/>
                </a:solidFill>
                <a:latin typeface="Yu Gothic"/>
                <a:ea typeface="Yu Gothic"/>
                <a:cs typeface="Yu Gothic"/>
              </a:rPr>
              <a:t>Guest content is visible immediately.</a:t>
            </a:r>
          </a:p>
        </p:txBody>
      </p:sp>
      <p:sp>
        <p:nvSpPr>
          <p:cNvPr id="15" name="text-3u92t9">
            <a:extLst xmlns:a="http://schemas.openxmlformats.org/drawingml/2006/main">
              <a:ext uri="{FF2B5EF4-FFF2-40B4-BE49-F238E27FC236}">
                <a16:creationId xmlns:a16="http://schemas.microsoft.com/office/drawing/2014/main" id="{513F1B0F-4E36-4635-A5F1-CD766D40A3FF}"/>
              </a:ext>
            </a:extLst>
          </p:cNvPr>
          <p:cNvSpPr>
            <a:spLocks xmlns:a="http://schemas.openxmlformats.org/drawingml/2006/main" noGrp="1"/>
          </p:cNvSpPr>
          <p:nvPr/>
        </p:nvSpPr>
        <p:spPr>
          <a:xfrm xmlns:a="http://schemas.openxmlformats.org/drawingml/2006/main">
            <a:off x="6648450" y="2686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02</a:t>
            </a:r>
          </a:p>
        </p:txBody>
      </p:sp>
      <p:sp>
        <p:nvSpPr>
          <p:cNvPr id="16" name="text-2yutlq">
            <a:extLst xmlns:a="http://schemas.openxmlformats.org/drawingml/2006/main">
              <a:ext uri="{FF2B5EF4-FFF2-40B4-BE49-F238E27FC236}">
                <a16:creationId xmlns:a16="http://schemas.microsoft.com/office/drawing/2014/main" id="{3A358EA0-8737-43CF-AD78-A32284EB31C3}"/>
              </a:ext>
            </a:extLst>
          </p:cNvPr>
          <p:cNvSpPr>
            <a:spLocks xmlns:a="http://schemas.openxmlformats.org/drawingml/2006/main" noGrp="1"/>
          </p:cNvSpPr>
          <p:nvPr/>
        </p:nvSpPr>
        <p:spPr>
          <a:xfrm xmlns:a="http://schemas.openxmlformats.org/drawingml/2006/main">
            <a:off x="6648450" y="335280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71613"/>
                </a:solidFill>
                <a:latin typeface="Yu Gothic"/>
                <a:ea typeface="Yu Gothic"/>
                <a:cs typeface="Yu Gothic"/>
              </a:defRPr>
            </a:pPr>
            <a:r>
              <a:rPr sz="1500" b="1" i="0">
                <a:solidFill>
                  <a:srgbClr val="171613"/>
                </a:solidFill>
                <a:latin typeface="Yu Gothic"/>
                <a:ea typeface="Yu Gothic"/>
                <a:cs typeface="Yu Gothic"/>
              </a:rPr>
              <a:t>Register</a:t>
            </a:r>
          </a:p>
        </p:txBody>
      </p:sp>
      <p:sp>
        <p:nvSpPr>
          <p:cNvPr id="17" name="text-z19em4">
            <a:extLst xmlns:a="http://schemas.openxmlformats.org/drawingml/2006/main">
              <a:ext uri="{FF2B5EF4-FFF2-40B4-BE49-F238E27FC236}">
                <a16:creationId xmlns:a16="http://schemas.microsoft.com/office/drawing/2014/main" id="{D99A22F0-0F37-48B6-B2F8-F48323A3FCD0}"/>
              </a:ext>
            </a:extLst>
          </p:cNvPr>
          <p:cNvSpPr>
            <a:spLocks xmlns:a="http://schemas.openxmlformats.org/drawingml/2006/main" noGrp="1"/>
          </p:cNvSpPr>
          <p:nvPr/>
        </p:nvSpPr>
        <p:spPr>
          <a:xfrm xmlns:a="http://schemas.openxmlformats.org/drawingml/2006/main">
            <a:off x="6648450" y="3752850"/>
            <a:ext cx="13144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050" b="0" i="0">
                <a:solidFill>
                  <a:srgbClr val="4D4942"/>
                </a:solidFill>
                <a:latin typeface="Yu Gothic"/>
                <a:ea typeface="Yu Gothic"/>
                <a:cs typeface="Yu Gothic"/>
              </a:defRPr>
            </a:pPr>
            <a:r>
              <a:rPr sz="1050" b="0" i="0">
                <a:solidFill>
                  <a:srgbClr val="4D4942"/>
                </a:solidFill>
                <a:latin typeface="Yu Gothic"/>
                <a:ea typeface="Yu Gothic"/>
                <a:cs typeface="Yu Gothic"/>
              </a:rPr>
              <a:t>A normal USER account is created.</a:t>
            </a:r>
          </a:p>
        </p:txBody>
      </p:sp>
      <p:sp>
        <p:nvSpPr>
          <p:cNvPr id="18" name="text-03i9ie">
            <a:extLst xmlns:a="http://schemas.openxmlformats.org/drawingml/2006/main">
              <a:ext uri="{FF2B5EF4-FFF2-40B4-BE49-F238E27FC236}">
                <a16:creationId xmlns:a16="http://schemas.microsoft.com/office/drawing/2014/main" id="{C0838E4B-D74B-41A0-B7C1-4DDF5553C15A}"/>
              </a:ext>
            </a:extLst>
          </p:cNvPr>
          <p:cNvSpPr>
            <a:spLocks xmlns:a="http://schemas.openxmlformats.org/drawingml/2006/main" noGrp="1"/>
          </p:cNvSpPr>
          <p:nvPr/>
        </p:nvSpPr>
        <p:spPr>
          <a:xfrm xmlns:a="http://schemas.openxmlformats.org/drawingml/2006/main">
            <a:off x="8077200" y="2686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03</a:t>
            </a:r>
          </a:p>
        </p:txBody>
      </p:sp>
      <p:sp>
        <p:nvSpPr>
          <p:cNvPr id="19" name="text-6dcu0u">
            <a:extLst xmlns:a="http://schemas.openxmlformats.org/drawingml/2006/main">
              <a:ext uri="{FF2B5EF4-FFF2-40B4-BE49-F238E27FC236}">
                <a16:creationId xmlns:a16="http://schemas.microsoft.com/office/drawing/2014/main" id="{6D683275-1BE0-48EA-95AF-9BAB64065EAE}"/>
              </a:ext>
            </a:extLst>
          </p:cNvPr>
          <p:cNvSpPr>
            <a:spLocks xmlns:a="http://schemas.openxmlformats.org/drawingml/2006/main" noGrp="1"/>
          </p:cNvSpPr>
          <p:nvPr/>
        </p:nvSpPr>
        <p:spPr>
          <a:xfrm xmlns:a="http://schemas.openxmlformats.org/drawingml/2006/main">
            <a:off x="8077200" y="335280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71613"/>
                </a:solidFill>
                <a:latin typeface="Yu Gothic"/>
                <a:ea typeface="Yu Gothic"/>
                <a:cs typeface="Yu Gothic"/>
              </a:defRPr>
            </a:pPr>
            <a:r>
              <a:rPr sz="1500" b="1" i="0">
                <a:solidFill>
                  <a:srgbClr val="171613"/>
                </a:solidFill>
                <a:latin typeface="Yu Gothic"/>
                <a:ea typeface="Yu Gothic"/>
                <a:cs typeface="Yu Gothic"/>
              </a:rPr>
              <a:t>Personalize</a:t>
            </a:r>
          </a:p>
        </p:txBody>
      </p:sp>
      <p:sp>
        <p:nvSpPr>
          <p:cNvPr id="20" name="text-ghp5p1">
            <a:extLst xmlns:a="http://schemas.openxmlformats.org/drawingml/2006/main">
              <a:ext uri="{FF2B5EF4-FFF2-40B4-BE49-F238E27FC236}">
                <a16:creationId xmlns:a16="http://schemas.microsoft.com/office/drawing/2014/main" id="{757768AA-EA23-41C9-BE96-A26259913B53}"/>
              </a:ext>
            </a:extLst>
          </p:cNvPr>
          <p:cNvSpPr>
            <a:spLocks xmlns:a="http://schemas.openxmlformats.org/drawingml/2006/main" noGrp="1"/>
          </p:cNvSpPr>
          <p:nvPr/>
        </p:nvSpPr>
        <p:spPr>
          <a:xfrm xmlns:a="http://schemas.openxmlformats.org/drawingml/2006/main">
            <a:off x="8077200" y="3752850"/>
            <a:ext cx="13144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050" b="0" i="0">
                <a:solidFill>
                  <a:srgbClr val="4D4942"/>
                </a:solidFill>
                <a:latin typeface="Yu Gothic"/>
                <a:ea typeface="Yu Gothic"/>
                <a:cs typeface="Yu Gothic"/>
              </a:defRPr>
            </a:pPr>
            <a:r>
              <a:rPr sz="1050" b="0" i="0">
                <a:solidFill>
                  <a:srgbClr val="4D4942"/>
                </a:solidFill>
                <a:latin typeface="Yu Gothic"/>
                <a:ea typeface="Yu Gothic"/>
                <a:cs typeface="Yu Gothic"/>
              </a:rPr>
              <a:t>Profile, place, and works become editable.</a:t>
            </a:r>
          </a:p>
        </p:txBody>
      </p:sp>
      <p:sp>
        <p:nvSpPr>
          <p:cNvPr id="21" name="text-ya5hxh">
            <a:extLst xmlns:a="http://schemas.openxmlformats.org/drawingml/2006/main">
              <a:ext uri="{FF2B5EF4-FFF2-40B4-BE49-F238E27FC236}">
                <a16:creationId xmlns:a16="http://schemas.microsoft.com/office/drawing/2014/main" id="{2413B930-B00C-4B69-9829-DBDECCD6A0AA}"/>
              </a:ext>
            </a:extLst>
          </p:cNvPr>
          <p:cNvSpPr>
            <a:spLocks xmlns:a="http://schemas.openxmlformats.org/drawingml/2006/main" noGrp="1"/>
          </p:cNvSpPr>
          <p:nvPr/>
        </p:nvSpPr>
        <p:spPr>
          <a:xfrm xmlns:a="http://schemas.openxmlformats.org/drawingml/2006/main">
            <a:off x="9505950" y="2686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04</a:t>
            </a:r>
          </a:p>
        </p:txBody>
      </p:sp>
      <p:sp>
        <p:nvSpPr>
          <p:cNvPr id="22" name="text-doecj8">
            <a:extLst xmlns:a="http://schemas.openxmlformats.org/drawingml/2006/main">
              <a:ext uri="{FF2B5EF4-FFF2-40B4-BE49-F238E27FC236}">
                <a16:creationId xmlns:a16="http://schemas.microsoft.com/office/drawing/2014/main" id="{2A092666-0B3E-414A-AA0E-0C0AAB96318B}"/>
              </a:ext>
            </a:extLst>
          </p:cNvPr>
          <p:cNvSpPr>
            <a:spLocks xmlns:a="http://schemas.openxmlformats.org/drawingml/2006/main" noGrp="1"/>
          </p:cNvSpPr>
          <p:nvPr/>
        </p:nvSpPr>
        <p:spPr>
          <a:xfrm xmlns:a="http://schemas.openxmlformats.org/drawingml/2006/main">
            <a:off x="9505950" y="335280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71613"/>
                </a:solidFill>
                <a:latin typeface="Yu Gothic"/>
                <a:ea typeface="Yu Gothic"/>
                <a:cs typeface="Yu Gothic"/>
              </a:defRPr>
            </a:pPr>
            <a:r>
              <a:rPr sz="1500" b="1" i="0">
                <a:solidFill>
                  <a:srgbClr val="171613"/>
                </a:solidFill>
                <a:latin typeface="Yu Gothic"/>
                <a:ea typeface="Yu Gothic"/>
                <a:cs typeface="Yu Gothic"/>
              </a:rPr>
              <a:t>Publish</a:t>
            </a:r>
          </a:p>
        </p:txBody>
      </p:sp>
      <p:sp>
        <p:nvSpPr>
          <p:cNvPr id="23" name="text-pa3ojq">
            <a:extLst xmlns:a="http://schemas.openxmlformats.org/drawingml/2006/main">
              <a:ext uri="{FF2B5EF4-FFF2-40B4-BE49-F238E27FC236}">
                <a16:creationId xmlns:a16="http://schemas.microsoft.com/office/drawing/2014/main" id="{3BA3D1B0-7730-485F-B74E-79D27B64F6A5}"/>
              </a:ext>
            </a:extLst>
          </p:cNvPr>
          <p:cNvSpPr>
            <a:spLocks xmlns:a="http://schemas.openxmlformats.org/drawingml/2006/main" noGrp="1"/>
          </p:cNvSpPr>
          <p:nvPr/>
        </p:nvSpPr>
        <p:spPr>
          <a:xfrm xmlns:a="http://schemas.openxmlformats.org/drawingml/2006/main">
            <a:off x="9505950" y="3752850"/>
            <a:ext cx="13144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050" b="0" i="0">
                <a:solidFill>
                  <a:srgbClr val="4D4942"/>
                </a:solidFill>
                <a:latin typeface="Yu Gothic"/>
                <a:ea typeface="Yu Gothic"/>
                <a:cs typeface="Yu Gothic"/>
              </a:defRPr>
            </a:pPr>
            <a:r>
              <a:rPr sz="1050" b="0" i="0">
                <a:solidFill>
                  <a:srgbClr val="4D4942"/>
                </a:solidFill>
                <a:latin typeface="Yu Gothic"/>
                <a:ea typeface="Yu Gothic"/>
                <a:cs typeface="Yu Gothic"/>
              </a:rPr>
              <a:t>The page becomes a maintained exhibition.</a:t>
            </a:r>
          </a:p>
        </p:txBody>
      </p:sp>
      <p:sp>
        <p:nvSpPr>
          <p:cNvPr id="24" name="text-y549gn">
            <a:extLst xmlns:a="http://schemas.openxmlformats.org/drawingml/2006/main">
              <a:ext uri="{FF2B5EF4-FFF2-40B4-BE49-F238E27FC236}">
                <a16:creationId xmlns:a16="http://schemas.microsoft.com/office/drawing/2014/main" id="{F098BA1D-6E9F-4320-91A2-80C8982D7132}"/>
              </a:ext>
            </a:extLst>
          </p:cNvPr>
          <p:cNvSpPr>
            <a:spLocks xmlns:a="http://schemas.openxmlformats.org/drawingml/2006/main" noGrp="1"/>
          </p:cNvSpPr>
          <p:nvPr/>
        </p:nvSpPr>
        <p:spPr>
          <a:xfrm xmlns:a="http://schemas.openxmlformats.org/drawingml/2006/main">
            <a:off x="5219700" y="5124450"/>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i="1">
                <a:solidFill>
                  <a:srgbClr val="7D776D"/>
                </a:solidFill>
                <a:latin typeface="Yu Gothic"/>
                <a:ea typeface="Yu Gothic"/>
                <a:cs typeface="Yu Gothic"/>
              </a:defRPr>
            </a:pPr>
            <a:r>
              <a:rPr sz="1125" b="0" i="1">
                <a:solidFill>
                  <a:srgbClr val="7D776D"/>
                </a:solidFill>
                <a:latin typeface="Yu Gothic"/>
                <a:ea typeface="Yu Gothic"/>
                <a:cs typeface="Yu Gothic"/>
              </a:rPr>
              <a:t>Public discovery and forum-style sharing are planned next steps, not current features.</a:t>
            </a:r>
          </a:p>
        </p:txBody>
      </p:sp>
    </p:spTree>
    <p:extLst>
      <p:ext uri="{BB962C8B-B14F-4D97-AF65-F5344CB8AC3E}">
        <p14:creationId xmlns:p14="http://schemas.microsoft.com/office/powerpoint/2010/main" val="1425355633"/>
      </p:ext>
    </p:extLst>
  </p:cSld>
</p:sld>
</file>

<file path=ppt/slides/slide5.xml><?xml version="1.0" encoding="utf-8"?>
<p:sld xmlns:p="http://schemas.openxmlformats.org/presentationml/2006/main">
  <p:cSld>
    <p:bg>
      <p:bgPr>
        <a:solidFill xmlns:a="http://schemas.openxmlformats.org/drawingml/2006/main">
          <a:srgbClr val="171613"/>
        </a:solidFill>
      </p:bgPr>
    </p:bg>
    <p:spTree>
      <p:nvGrpSpPr>
        <p:cNvPr id="1" name=""/>
        <p:cNvGrpSpPr/>
        <p:nvPr/>
      </p:nvGrpSpPr>
      <p:grpSpPr>
        <a:xfrm xmlns:a="http://schemas.openxmlformats.org/drawingml/2006/main"/>
      </p:grpSpPr>
      <p:sp>
        <p:nvSpPr>
          <p:cNvPr id="9" name="rule-52-42">
            <a:extLst xmlns:a="http://schemas.openxmlformats.org/drawingml/2006/main">
              <a:ext uri="{FF2B5EF4-FFF2-40B4-BE49-F238E27FC236}">
                <a16:creationId xmlns:a16="http://schemas.microsoft.com/office/drawing/2014/main" id="{04633352-4659-449A-A48D-9B28C4553715}"/>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ev13h0">
            <a:extLst xmlns:a="http://schemas.openxmlformats.org/drawingml/2006/main">
              <a:ext uri="{FF2B5EF4-FFF2-40B4-BE49-F238E27FC236}">
                <a16:creationId xmlns:a16="http://schemas.microsoft.com/office/drawing/2014/main" id="{916875D3-B500-4323-A380-F147D5F49E6D}"/>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2EEE6"/>
                </a:solidFill>
                <a:latin typeface="Consolas"/>
                <a:ea typeface="Consolas"/>
                <a:cs typeface="Consolas"/>
              </a:defRPr>
            </a:pPr>
            <a:r>
              <a:rPr sz="900" b="1" i="0">
                <a:solidFill>
                  <a:srgbClr val="F2EEE6"/>
                </a:solidFill>
                <a:latin typeface="Consolas"/>
                <a:ea typeface="Consolas"/>
                <a:cs typeface="Consolas"/>
              </a:rPr>
              <a:t>LIVE DEMONSTRATION</a:t>
            </a:r>
          </a:p>
        </p:txBody>
      </p:sp>
      <p:sp>
        <p:nvSpPr>
          <p:cNvPr id="3" name="rule-52-675">
            <a:extLst xmlns:a="http://schemas.openxmlformats.org/drawingml/2006/main">
              <a:ext uri="{FF2B5EF4-FFF2-40B4-BE49-F238E27FC236}">
                <a16:creationId xmlns:a16="http://schemas.microsoft.com/office/drawing/2014/main" id="{31087E5A-24C7-4ED7-9ED9-86D9162F70EE}"/>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B4943"/>
          </a:solidFill>
          <a:ln xmlns:a="http://schemas.openxmlformats.org/drawingml/2006/main" w="0">
            <a:noFill/>
            <a:prstDash val="solid"/>
          </a:ln>
        </p:spPr>
      </p:sp>
      <p:sp>
        <p:nvSpPr>
          <p:cNvPr id="4" name="text-pdum1w">
            <a:extLst xmlns:a="http://schemas.openxmlformats.org/drawingml/2006/main">
              <a:ext uri="{FF2B5EF4-FFF2-40B4-BE49-F238E27FC236}">
                <a16:creationId xmlns:a16="http://schemas.microsoft.com/office/drawing/2014/main" id="{FDCE178A-C1E5-4C15-AE4C-116B2A562256}"/>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B9B4AA"/>
                </a:solidFill>
                <a:latin typeface="Consolas"/>
                <a:ea typeface="Consolas"/>
                <a:cs typeface="Consolas"/>
              </a:defRPr>
            </a:pPr>
            <a:r>
              <a:rPr sz="750" b="0" i="0">
                <a:solidFill>
                  <a:srgbClr val="B9B4AA"/>
                </a:solidFill>
                <a:latin typeface="Consolas"/>
                <a:ea typeface="Consolas"/>
                <a:cs typeface="Consolas"/>
              </a:rPr>
              <a:t>05</a:t>
            </a:r>
          </a:p>
        </p:txBody>
      </p:sp>
      <p:sp>
        <p:nvSpPr>
          <p:cNvPr id="5" name="text-h1zn0j">
            <a:extLst xmlns:a="http://schemas.openxmlformats.org/drawingml/2006/main">
              <a:ext uri="{FF2B5EF4-FFF2-40B4-BE49-F238E27FC236}">
                <a16:creationId xmlns:a16="http://schemas.microsoft.com/office/drawing/2014/main" id="{29496153-92B7-42F4-9B57-1E1D15D2F6C2}"/>
              </a:ext>
            </a:extLst>
          </p:cNvPr>
          <p:cNvSpPr>
            <a:spLocks xmlns:a="http://schemas.openxmlformats.org/drawingml/2006/main" noGrp="1"/>
          </p:cNvSpPr>
          <p:nvPr/>
        </p:nvSpPr>
        <p:spPr>
          <a:xfrm xmlns:a="http://schemas.openxmlformats.org/drawingml/2006/main">
            <a:off x="533400" y="1123950"/>
            <a:ext cx="2857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0" b="1" i="0">
                <a:solidFill>
                  <a:srgbClr val="D84A32"/>
                </a:solidFill>
                <a:latin typeface="Georgia"/>
                <a:ea typeface="Georgia"/>
                <a:cs typeface="Georgia"/>
              </a:defRPr>
            </a:pPr>
            <a:r>
              <a:rPr sz="11250" b="1" i="0">
                <a:solidFill>
                  <a:srgbClr val="D84A32"/>
                </a:solidFill>
                <a:latin typeface="Georgia"/>
                <a:ea typeface="Georgia"/>
                <a:cs typeface="Georgia"/>
              </a:rPr>
              <a:t>05</a:t>
            </a:r>
          </a:p>
        </p:txBody>
      </p:sp>
      <p:sp>
        <p:nvSpPr>
          <p:cNvPr id="6" name="text-s8bb6g">
            <a:extLst xmlns:a="http://schemas.openxmlformats.org/drawingml/2006/main">
              <a:ext uri="{FF2B5EF4-FFF2-40B4-BE49-F238E27FC236}">
                <a16:creationId xmlns:a16="http://schemas.microsoft.com/office/drawing/2014/main" id="{147103BF-0E21-432B-AFF2-83189F5839E0}"/>
              </a:ext>
            </a:extLst>
          </p:cNvPr>
          <p:cNvSpPr>
            <a:spLocks xmlns:a="http://schemas.openxmlformats.org/drawingml/2006/main" noGrp="1"/>
          </p:cNvSpPr>
          <p:nvPr/>
        </p:nvSpPr>
        <p:spPr>
          <a:xfrm xmlns:a="http://schemas.openxmlformats.org/drawingml/2006/main">
            <a:off x="4000500" y="14287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4050" b="0" i="0">
                <a:solidFill>
                  <a:srgbClr val="F2EEE6"/>
                </a:solidFill>
                <a:latin typeface="Georgia"/>
                <a:ea typeface="Georgia"/>
                <a:cs typeface="Georgia"/>
              </a:defRPr>
            </a:pPr>
            <a:r>
              <a:rPr sz="4050" b="0" i="0">
                <a:solidFill>
                  <a:srgbClr val="F2EEE6"/>
                </a:solidFill>
                <a:latin typeface="Georgia"/>
                <a:ea typeface="Georgia"/>
                <a:cs typeface="Georgia"/>
              </a:rPr>
              <a:t>Three pages.</a:t>
            </a:r>
          </a:p>
          <a:p xmlns:a="http://schemas.openxmlformats.org/drawingml/2006/main">
            <a:pPr algn="l">
              <a:lnSpc>
                <a:spcPct val="98000"/>
              </a:lnSpc>
              <a:buNone/>
              <a:defRPr sz="4050" b="0" i="0">
                <a:solidFill>
                  <a:srgbClr val="F2EEE6"/>
                </a:solidFill>
                <a:latin typeface="Georgia"/>
                <a:ea typeface="Georgia"/>
                <a:cs typeface="Georgia"/>
              </a:defRPr>
            </a:pPr>
            <a:r>
              <a:rPr sz="4050" b="0" i="0">
                <a:solidFill>
                  <a:srgbClr val="F2EEE6"/>
                </a:solidFill>
                <a:latin typeface="Georgia"/>
                <a:ea typeface="Georgia"/>
                <a:cs typeface="Georgia"/>
              </a:rPr>
              <a:t>One continuous service.</a:t>
            </a:r>
          </a:p>
        </p:txBody>
      </p:sp>
      <p:sp>
        <p:nvSpPr>
          <p:cNvPr id="7" name="text-v9f2qs">
            <a:extLst xmlns:a="http://schemas.openxmlformats.org/drawingml/2006/main">
              <a:ext uri="{FF2B5EF4-FFF2-40B4-BE49-F238E27FC236}">
                <a16:creationId xmlns:a16="http://schemas.microsoft.com/office/drawing/2014/main" id="{C3F2323F-AB88-4177-A97B-B561C987002D}"/>
              </a:ext>
            </a:extLst>
          </p:cNvPr>
          <p:cNvSpPr>
            <a:spLocks xmlns:a="http://schemas.openxmlformats.org/drawingml/2006/main" noGrp="1"/>
          </p:cNvSpPr>
          <p:nvPr/>
        </p:nvSpPr>
        <p:spPr>
          <a:xfrm xmlns:a="http://schemas.openxmlformats.org/drawingml/2006/main">
            <a:off x="4057650" y="36004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C8AD77"/>
                </a:solidFill>
                <a:latin typeface="Consolas"/>
                <a:ea typeface="Consolas"/>
                <a:cs typeface="Consolas"/>
              </a:defRPr>
            </a:pPr>
            <a:r>
              <a:rPr sz="1125" b="1" i="0">
                <a:solidFill>
                  <a:srgbClr val="C8AD77"/>
                </a:solidFill>
                <a:latin typeface="Consolas"/>
                <a:ea typeface="Consolas"/>
                <a:cs typeface="Consolas"/>
              </a:rPr>
              <a:t>TODAY  /  PORTFOLIO  /  ACCOUNT</a:t>
            </a:r>
          </a:p>
        </p:txBody>
      </p:sp>
      <p:sp>
        <p:nvSpPr>
          <p:cNvPr id="8" name="text-asujnt">
            <a:extLst xmlns:a="http://schemas.openxmlformats.org/drawingml/2006/main">
              <a:ext uri="{FF2B5EF4-FFF2-40B4-BE49-F238E27FC236}">
                <a16:creationId xmlns:a16="http://schemas.microsoft.com/office/drawing/2014/main" id="{2B9CE966-DC8B-4A6A-92A0-C117E943584D}"/>
              </a:ext>
            </a:extLst>
          </p:cNvPr>
          <p:cNvSpPr>
            <a:spLocks xmlns:a="http://schemas.openxmlformats.org/drawingml/2006/main" noGrp="1"/>
          </p:cNvSpPr>
          <p:nvPr/>
        </p:nvSpPr>
        <p:spPr>
          <a:xfrm xmlns:a="http://schemas.openxmlformats.org/drawingml/2006/main">
            <a:off x="4057650" y="4248150"/>
            <a:ext cx="581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BBB6AC"/>
                </a:solidFill>
                <a:latin typeface="Yu Gothic"/>
                <a:ea typeface="Yu Gothic"/>
                <a:cs typeface="Yu Gothic"/>
              </a:defRPr>
            </a:pPr>
            <a:r>
              <a:rPr sz="1350" b="0" i="0">
                <a:solidFill>
                  <a:srgbClr val="BBB6AC"/>
                </a:solidFill>
                <a:latin typeface="Yu Gothic"/>
                <a:ea typeface="Yu Gothic"/>
                <a:cs typeface="Yu Gothic"/>
              </a:rPr>
              <a:t>The detailed click sequence is kept in a separate live-demo script.</a:t>
            </a:r>
          </a:p>
        </p:txBody>
      </p:sp>
    </p:spTree>
    <p:extLst>
      <p:ext uri="{BB962C8B-B14F-4D97-AF65-F5344CB8AC3E}">
        <p14:creationId xmlns:p14="http://schemas.microsoft.com/office/powerpoint/2010/main" val="1339495134"/>
      </p:ext>
    </p:extLst>
  </p:cSld>
</p:sld>
</file>

<file path=ppt/slides/slide6.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19" name="rule-52-42">
            <a:extLst xmlns:a="http://schemas.openxmlformats.org/drawingml/2006/main">
              <a:ext uri="{FF2B5EF4-FFF2-40B4-BE49-F238E27FC236}">
                <a16:creationId xmlns:a16="http://schemas.microsoft.com/office/drawing/2014/main" id="{5F996167-F433-427E-82FD-E3F2AB8FA32C}"/>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41hzza">
            <a:extLst xmlns:a="http://schemas.openxmlformats.org/drawingml/2006/main">
              <a:ext uri="{FF2B5EF4-FFF2-40B4-BE49-F238E27FC236}">
                <a16:creationId xmlns:a16="http://schemas.microsoft.com/office/drawing/2014/main" id="{46459A59-7DB1-4169-B175-F94B6B758470}"/>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TODAY / EXTERNAL SERVICES</a:t>
            </a:r>
          </a:p>
        </p:txBody>
      </p:sp>
      <p:sp>
        <p:nvSpPr>
          <p:cNvPr id="3" name="rule-52-675">
            <a:extLst xmlns:a="http://schemas.openxmlformats.org/drawingml/2006/main">
              <a:ext uri="{FF2B5EF4-FFF2-40B4-BE49-F238E27FC236}">
                <a16:creationId xmlns:a16="http://schemas.microsoft.com/office/drawing/2014/main" id="{1DCF579B-89EB-4688-BED9-03FD485311C3}"/>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dgmgoa">
            <a:extLst xmlns:a="http://schemas.openxmlformats.org/drawingml/2006/main">
              <a:ext uri="{FF2B5EF4-FFF2-40B4-BE49-F238E27FC236}">
                <a16:creationId xmlns:a16="http://schemas.microsoft.com/office/drawing/2014/main" id="{873A2E4C-1468-4077-A0CE-3D00FFDB8686}"/>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06</a:t>
            </a:r>
          </a:p>
        </p:txBody>
      </p:sp>
      <p:sp>
        <p:nvSpPr>
          <p:cNvPr id="5" name="text-9n11o1">
            <a:extLst xmlns:a="http://schemas.openxmlformats.org/drawingml/2006/main">
              <a:ext uri="{FF2B5EF4-FFF2-40B4-BE49-F238E27FC236}">
                <a16:creationId xmlns:a16="http://schemas.microsoft.com/office/drawing/2014/main" id="{C6F1D3B8-550D-429E-B3EE-67808EA97A61}"/>
              </a:ext>
            </a:extLst>
          </p:cNvPr>
          <p:cNvSpPr>
            <a:spLocks xmlns:a="http://schemas.openxmlformats.org/drawingml/2006/main" noGrp="1"/>
          </p:cNvSpPr>
          <p:nvPr/>
        </p:nvSpPr>
        <p:spPr>
          <a:xfrm xmlns:a="http://schemas.openxmlformats.org/drawingml/2006/main">
            <a:off x="514350" y="7620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706"/>
          </a:bodyPr>
          <a:lstStyle xmlns:a="http://schemas.openxmlformats.org/drawingml/2006/main"/>
          <a:p xmlns:a="http://schemas.openxmlformats.org/drawingml/2006/main">
            <a:pPr algn="l">
              <a:lnSpc>
                <a:spcPct val="98000"/>
              </a:lnSpc>
              <a:buNone/>
              <a:defRPr sz="3150" b="0" i="0">
                <a:solidFill>
                  <a:srgbClr val="171613"/>
                </a:solidFill>
                <a:latin typeface="Georgia"/>
                <a:ea typeface="Georgia"/>
                <a:cs typeface="Georgia"/>
              </a:defRPr>
            </a:pPr>
            <a:r>
              <a:rPr sz="3150" b="0" i="0">
                <a:solidFill>
                  <a:srgbClr val="171613"/>
                </a:solidFill>
                <a:latin typeface="Georgia"/>
                <a:ea typeface="Georgia"/>
                <a:cs typeface="Georgia"/>
              </a:rPr>
              <a:t>Two external services become</a:t>
            </a:r>
          </a:p>
          <a:p xmlns:a="http://schemas.openxmlformats.org/drawingml/2006/main">
            <a:pPr algn="l">
              <a:lnSpc>
                <a:spcPct val="98000"/>
              </a:lnSpc>
              <a:buNone/>
              <a:defRPr sz="3150" b="0" i="0">
                <a:solidFill>
                  <a:srgbClr val="171613"/>
                </a:solidFill>
                <a:latin typeface="Georgia"/>
                <a:ea typeface="Georgia"/>
                <a:cs typeface="Georgia"/>
              </a:defRPr>
            </a:pPr>
            <a:r>
              <a:rPr sz="3150" b="0" i="0">
                <a:solidFill>
                  <a:srgbClr val="171613"/>
                </a:solidFill>
                <a:latin typeface="Georgia"/>
                <a:ea typeface="Georgia"/>
                <a:cs typeface="Georgia"/>
              </a:rPr>
              <a:t>one useful response.</a:t>
            </a:r>
          </a:p>
        </p:txBody>
      </p:sp>
      <p:sp>
        <p:nvSpPr>
          <p:cNvPr id="6" name="text-00ot88">
            <a:extLst xmlns:a="http://schemas.openxmlformats.org/drawingml/2006/main">
              <a:ext uri="{FF2B5EF4-FFF2-40B4-BE49-F238E27FC236}">
                <a16:creationId xmlns:a16="http://schemas.microsoft.com/office/drawing/2014/main" id="{9900F18E-B563-4874-AC46-5DAC7BBB1580}"/>
              </a:ext>
            </a:extLst>
          </p:cNvPr>
          <p:cNvSpPr>
            <a:spLocks xmlns:a="http://schemas.openxmlformats.org/drawingml/2006/main" noGrp="1"/>
          </p:cNvSpPr>
          <p:nvPr/>
        </p:nvSpPr>
        <p:spPr>
          <a:xfrm xmlns:a="http://schemas.openxmlformats.org/drawingml/2006/main">
            <a:off x="552450" y="23431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01</a:t>
            </a:r>
          </a:p>
        </p:txBody>
      </p:sp>
      <p:sp>
        <p:nvSpPr>
          <p:cNvPr id="7" name="text-hdoj84">
            <a:extLst xmlns:a="http://schemas.openxmlformats.org/drawingml/2006/main">
              <a:ext uri="{FF2B5EF4-FFF2-40B4-BE49-F238E27FC236}">
                <a16:creationId xmlns:a16="http://schemas.microsoft.com/office/drawing/2014/main" id="{A334F3A6-10E3-4174-BA97-5D07FC164A24}"/>
              </a:ext>
            </a:extLst>
          </p:cNvPr>
          <p:cNvSpPr>
            <a:spLocks xmlns:a="http://schemas.openxmlformats.org/drawingml/2006/main" noGrp="1"/>
          </p:cNvSpPr>
          <p:nvPr/>
        </p:nvSpPr>
        <p:spPr>
          <a:xfrm xmlns:a="http://schemas.openxmlformats.org/drawingml/2006/main">
            <a:off x="990600" y="2314575"/>
            <a:ext cx="3467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Choose a place</a:t>
            </a:r>
          </a:p>
        </p:txBody>
      </p:sp>
      <p:sp>
        <p:nvSpPr>
          <p:cNvPr id="8" name="text-wvqet7">
            <a:extLst xmlns:a="http://schemas.openxmlformats.org/drawingml/2006/main">
              <a:ext uri="{FF2B5EF4-FFF2-40B4-BE49-F238E27FC236}">
                <a16:creationId xmlns:a16="http://schemas.microsoft.com/office/drawing/2014/main" id="{8FD0968E-1657-4C38-8B45-D181B678556D}"/>
              </a:ext>
            </a:extLst>
          </p:cNvPr>
          <p:cNvSpPr>
            <a:spLocks xmlns:a="http://schemas.openxmlformats.org/drawingml/2006/main" noGrp="1"/>
          </p:cNvSpPr>
          <p:nvPr/>
        </p:nvSpPr>
        <p:spPr>
          <a:xfrm xmlns:a="http://schemas.openxmlformats.org/drawingml/2006/main">
            <a:off x="990600" y="2628900"/>
            <a:ext cx="346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The client sends a country and city to the backend.</a:t>
            </a:r>
          </a:p>
        </p:txBody>
      </p:sp>
      <p:sp>
        <p:nvSpPr>
          <p:cNvPr id="9" name="text-gx7qae">
            <a:extLst xmlns:a="http://schemas.openxmlformats.org/drawingml/2006/main">
              <a:ext uri="{FF2B5EF4-FFF2-40B4-BE49-F238E27FC236}">
                <a16:creationId xmlns:a16="http://schemas.microsoft.com/office/drawing/2014/main" id="{F45BB268-EF88-419E-B7BC-016BC56542E0}"/>
              </a:ext>
            </a:extLst>
          </p:cNvPr>
          <p:cNvSpPr>
            <a:spLocks xmlns:a="http://schemas.openxmlformats.org/drawingml/2006/main" noGrp="1"/>
          </p:cNvSpPr>
          <p:nvPr/>
        </p:nvSpPr>
        <p:spPr>
          <a:xfrm xmlns:a="http://schemas.openxmlformats.org/drawingml/2006/main">
            <a:off x="552450" y="33909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02</a:t>
            </a:r>
          </a:p>
        </p:txBody>
      </p:sp>
      <p:sp>
        <p:nvSpPr>
          <p:cNvPr id="10" name="text-uub6tx">
            <a:extLst xmlns:a="http://schemas.openxmlformats.org/drawingml/2006/main">
              <a:ext uri="{FF2B5EF4-FFF2-40B4-BE49-F238E27FC236}">
                <a16:creationId xmlns:a16="http://schemas.microsoft.com/office/drawing/2014/main" id="{4718ACF5-D345-42F4-A8CA-9D2BD8DAEB44}"/>
              </a:ext>
            </a:extLst>
          </p:cNvPr>
          <p:cNvSpPr>
            <a:spLocks xmlns:a="http://schemas.openxmlformats.org/drawingml/2006/main" noGrp="1"/>
          </p:cNvSpPr>
          <p:nvPr/>
        </p:nvSpPr>
        <p:spPr>
          <a:xfrm xmlns:a="http://schemas.openxmlformats.org/drawingml/2006/main">
            <a:off x="990600" y="3362325"/>
            <a:ext cx="365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Combine data</a:t>
            </a:r>
          </a:p>
        </p:txBody>
      </p:sp>
      <p:sp>
        <p:nvSpPr>
          <p:cNvPr id="11" name="text-ihtlod">
            <a:extLst xmlns:a="http://schemas.openxmlformats.org/drawingml/2006/main">
              <a:ext uri="{FF2B5EF4-FFF2-40B4-BE49-F238E27FC236}">
                <a16:creationId xmlns:a16="http://schemas.microsoft.com/office/drawing/2014/main" id="{BEFB3C4F-74DE-4F25-AC14-6084A02C6560}"/>
              </a:ext>
            </a:extLst>
          </p:cNvPr>
          <p:cNvSpPr>
            <a:spLocks xmlns:a="http://schemas.openxmlformats.org/drawingml/2006/main" noGrp="1"/>
          </p:cNvSpPr>
          <p:nvPr/>
        </p:nvSpPr>
        <p:spPr>
          <a:xfrm xmlns:a="http://schemas.openxmlformats.org/drawingml/2006/main">
            <a:off x="990600" y="3676650"/>
            <a:ext cx="3657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REST Countries supplies country details; Open-Meteo supplies geocoding and weather.</a:t>
            </a:r>
          </a:p>
        </p:txBody>
      </p:sp>
      <p:sp>
        <p:nvSpPr>
          <p:cNvPr id="12" name="text-67n978">
            <a:extLst xmlns:a="http://schemas.openxmlformats.org/drawingml/2006/main">
              <a:ext uri="{FF2B5EF4-FFF2-40B4-BE49-F238E27FC236}">
                <a16:creationId xmlns:a16="http://schemas.microsoft.com/office/drawing/2014/main" id="{A26A7BB2-41DA-45D0-9CF3-E837CC3CFF5D}"/>
              </a:ext>
            </a:extLst>
          </p:cNvPr>
          <p:cNvSpPr>
            <a:spLocks xmlns:a="http://schemas.openxmlformats.org/drawingml/2006/main" noGrp="1"/>
          </p:cNvSpPr>
          <p:nvPr/>
        </p:nvSpPr>
        <p:spPr>
          <a:xfrm xmlns:a="http://schemas.openxmlformats.org/drawingml/2006/main">
            <a:off x="552450" y="45910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03</a:t>
            </a:r>
          </a:p>
        </p:txBody>
      </p:sp>
      <p:sp>
        <p:nvSpPr>
          <p:cNvPr id="13" name="text-ecqk35">
            <a:extLst xmlns:a="http://schemas.openxmlformats.org/drawingml/2006/main">
              <a:ext uri="{FF2B5EF4-FFF2-40B4-BE49-F238E27FC236}">
                <a16:creationId xmlns:a16="http://schemas.microsoft.com/office/drawing/2014/main" id="{B3C77F8F-0745-420F-B682-C32621EF3665}"/>
              </a:ext>
            </a:extLst>
          </p:cNvPr>
          <p:cNvSpPr>
            <a:spLocks xmlns:a="http://schemas.openxmlformats.org/drawingml/2006/main" noGrp="1"/>
          </p:cNvSpPr>
          <p:nvPr/>
        </p:nvSpPr>
        <p:spPr>
          <a:xfrm xmlns:a="http://schemas.openxmlformats.org/drawingml/2006/main">
            <a:off x="990600" y="4562475"/>
            <a:ext cx="365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Return meaning</a:t>
            </a:r>
          </a:p>
        </p:txBody>
      </p:sp>
      <p:sp>
        <p:nvSpPr>
          <p:cNvPr id="14" name="text-ua080k">
            <a:extLst xmlns:a="http://schemas.openxmlformats.org/drawingml/2006/main">
              <a:ext uri="{FF2B5EF4-FFF2-40B4-BE49-F238E27FC236}">
                <a16:creationId xmlns:a16="http://schemas.microsoft.com/office/drawing/2014/main" id="{CA083053-9999-4EC7-AB34-19570A47C871}"/>
              </a:ext>
            </a:extLst>
          </p:cNvPr>
          <p:cNvSpPr>
            <a:spLocks xmlns:a="http://schemas.openxmlformats.org/drawingml/2006/main" noGrp="1"/>
          </p:cNvSpPr>
          <p:nvPr/>
        </p:nvSpPr>
        <p:spPr>
          <a:xfrm xmlns:a="http://schemas.openxmlformats.org/drawingml/2006/main">
            <a:off x="990600" y="4876800"/>
            <a:ext cx="3657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The UI turns the combined response into weather-aware advice instead of raw API output.</a:t>
            </a:r>
          </a:p>
        </p:txBody>
      </p:sp>
      <p:sp>
        <p:nvSpPr>
          <p:cNvPr id="15" name="paper-frame-CampusFlow Today page screenshot.png">
            <a:extLst xmlns:a="http://schemas.openxmlformats.org/drawingml/2006/main">
              <a:ext uri="{FF2B5EF4-FFF2-40B4-BE49-F238E27FC236}">
                <a16:creationId xmlns:a16="http://schemas.microsoft.com/office/drawing/2014/main" id="{ECCCDE65-AD58-4F80-8F2F-05C33B10D3DB}"/>
              </a:ext>
            </a:extLst>
          </p:cNvPr>
          <p:cNvSpPr>
            <a:spLocks xmlns:a="http://schemas.openxmlformats.org/drawingml/2006/main" noGrp="1"/>
          </p:cNvSpPr>
          <p:nvPr/>
        </p:nvSpPr>
        <p:spPr>
          <a:xfrm xmlns:a="http://schemas.openxmlformats.org/drawingml/2006/main" rot="0">
            <a:off x="5238750" y="895350"/>
            <a:ext cx="6419850" cy="4257675"/>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283de8a796549df"/>
          <a:srcRect xmlns:a="http://schemas.openxmlformats.org/drawingml/2006/main" l="5379" t="0" r="5379" b="0"/>
          <a:stretch xmlns:a="http://schemas.openxmlformats.org/drawingml/2006/main">
            <a:fillRect l="0" t="0" r="0" b="0"/>
          </a:stretch>
        </p:blipFill>
        <p:spPr>
          <a:xfrm xmlns:a="http://schemas.openxmlformats.org/drawingml/2006/main">
            <a:off x="5314950" y="971550"/>
            <a:ext cx="6267450" cy="3952875"/>
          </a:xfrm>
          <a:prstGeom xmlns:a="http://schemas.openxmlformats.org/drawingml/2006/main" prst="rect">
            <a:avLst/>
          </a:prstGeom>
        </p:spPr>
      </p:pic>
      <p:sp>
        <p:nvSpPr>
          <p:cNvPr id="17" name="text-3cf4r2">
            <a:extLst xmlns:a="http://schemas.openxmlformats.org/drawingml/2006/main">
              <a:ext uri="{FF2B5EF4-FFF2-40B4-BE49-F238E27FC236}">
                <a16:creationId xmlns:a16="http://schemas.microsoft.com/office/drawing/2014/main" id="{204AEF9A-7848-4271-80DB-3B257E0A5AC2}"/>
              </a:ext>
            </a:extLst>
          </p:cNvPr>
          <p:cNvSpPr>
            <a:spLocks xmlns:a="http://schemas.openxmlformats.org/drawingml/2006/main" noGrp="1"/>
          </p:cNvSpPr>
          <p:nvPr/>
        </p:nvSpPr>
        <p:spPr>
          <a:xfrm xmlns:a="http://schemas.openxmlformats.org/drawingml/2006/main">
            <a:off x="5353050" y="5314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A82F22"/>
                </a:solidFill>
                <a:latin typeface="Consolas"/>
                <a:ea typeface="Consolas"/>
                <a:cs typeface="Consolas"/>
              </a:defRPr>
            </a:pPr>
            <a:r>
              <a:rPr sz="1050" b="1" i="0">
                <a:solidFill>
                  <a:srgbClr val="A82F22"/>
                </a:solidFill>
                <a:latin typeface="Consolas"/>
                <a:ea typeface="Consolas"/>
                <a:cs typeface="Consolas"/>
              </a:rPr>
              <a:t>GET /api/home</a:t>
            </a:r>
          </a:p>
        </p:txBody>
      </p:sp>
      <p:sp>
        <p:nvSpPr>
          <p:cNvPr id="18" name="text-kjopa9">
            <a:extLst xmlns:a="http://schemas.openxmlformats.org/drawingml/2006/main">
              <a:ext uri="{FF2B5EF4-FFF2-40B4-BE49-F238E27FC236}">
                <a16:creationId xmlns:a16="http://schemas.microsoft.com/office/drawing/2014/main" id="{2A187907-2BE6-4769-A7FF-FE1208633471}"/>
              </a:ext>
            </a:extLst>
          </p:cNvPr>
          <p:cNvSpPr>
            <a:spLocks xmlns:a="http://schemas.openxmlformats.org/drawingml/2006/main" noGrp="1"/>
          </p:cNvSpPr>
          <p:nvPr/>
        </p:nvSpPr>
        <p:spPr>
          <a:xfrm xmlns:a="http://schemas.openxmlformats.org/drawingml/2006/main">
            <a:off x="7258050" y="53149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900" b="0" i="0">
                <a:solidFill>
                  <a:srgbClr val="7D776D"/>
                </a:solidFill>
                <a:latin typeface="Consolas"/>
                <a:ea typeface="Consolas"/>
                <a:cs typeface="Consolas"/>
              </a:defRPr>
            </a:pPr>
            <a:r>
              <a:rPr sz="900" b="0" i="0">
                <a:solidFill>
                  <a:srgbClr val="7D776D"/>
                </a:solidFill>
                <a:latin typeface="Consolas"/>
                <a:ea typeface="Consolas"/>
                <a:cs typeface="Consolas"/>
              </a:rPr>
              <a:t>country + city → weather + country + advice</a:t>
            </a:r>
          </a:p>
        </p:txBody>
      </p:sp>
    </p:spTree>
    <p:extLst>
      <p:ext uri="{BB962C8B-B14F-4D97-AF65-F5344CB8AC3E}">
        <p14:creationId xmlns:p14="http://schemas.microsoft.com/office/powerpoint/2010/main" val="392954300"/>
      </p:ext>
    </p:extLst>
  </p:cSld>
</p:sld>
</file>

<file path=ppt/slides/slide7.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17" name="rule-52-42">
            <a:extLst xmlns:a="http://schemas.openxmlformats.org/drawingml/2006/main">
              <a:ext uri="{FF2B5EF4-FFF2-40B4-BE49-F238E27FC236}">
                <a16:creationId xmlns:a16="http://schemas.microsoft.com/office/drawing/2014/main" id="{88A8FAB5-54F1-4208-8F49-D89198F2D003}"/>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k13uwh">
            <a:extLst xmlns:a="http://schemas.openxmlformats.org/drawingml/2006/main">
              <a:ext uri="{FF2B5EF4-FFF2-40B4-BE49-F238E27FC236}">
                <a16:creationId xmlns:a16="http://schemas.microsoft.com/office/drawing/2014/main" id="{FDBEFD09-C587-4791-832E-884B02D4836F}"/>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PORTFOLIO / SELECTED WORK</a:t>
            </a:r>
          </a:p>
        </p:txBody>
      </p:sp>
      <p:sp>
        <p:nvSpPr>
          <p:cNvPr id="3" name="rule-52-675">
            <a:extLst xmlns:a="http://schemas.openxmlformats.org/drawingml/2006/main">
              <a:ext uri="{FF2B5EF4-FFF2-40B4-BE49-F238E27FC236}">
                <a16:creationId xmlns:a16="http://schemas.microsoft.com/office/drawing/2014/main" id="{AB3007B8-4514-4C47-BDF1-B202592177CE}"/>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h2755s">
            <a:extLst xmlns:a="http://schemas.openxmlformats.org/drawingml/2006/main">
              <a:ext uri="{FF2B5EF4-FFF2-40B4-BE49-F238E27FC236}">
                <a16:creationId xmlns:a16="http://schemas.microsoft.com/office/drawing/2014/main" id="{34809173-C997-4A0D-A5F2-99D76007BD49}"/>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07</a:t>
            </a:r>
          </a:p>
        </p:txBody>
      </p:sp>
      <p:sp>
        <p:nvSpPr>
          <p:cNvPr id="5" name="text-zvl15g">
            <a:extLst xmlns:a="http://schemas.openxmlformats.org/drawingml/2006/main">
              <a:ext uri="{FF2B5EF4-FFF2-40B4-BE49-F238E27FC236}">
                <a16:creationId xmlns:a16="http://schemas.microsoft.com/office/drawing/2014/main" id="{B9AAD3D8-E741-48F0-8660-E498B892EA6C}"/>
              </a:ext>
            </a:extLst>
          </p:cNvPr>
          <p:cNvSpPr>
            <a:spLocks xmlns:a="http://schemas.openxmlformats.org/drawingml/2006/main" noGrp="1"/>
          </p:cNvSpPr>
          <p:nvPr/>
        </p:nvSpPr>
        <p:spPr>
          <a:xfrm xmlns:a="http://schemas.openxmlformats.org/drawingml/2006/main">
            <a:off x="514350" y="723900"/>
            <a:ext cx="9525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98000"/>
              </a:lnSpc>
              <a:buNone/>
              <a:defRPr sz="3150" b="0" i="0">
                <a:solidFill>
                  <a:srgbClr val="171613"/>
                </a:solidFill>
                <a:latin typeface="Georgia"/>
                <a:ea typeface="Georgia"/>
                <a:cs typeface="Georgia"/>
              </a:defRPr>
            </a:pPr>
            <a:r>
              <a:rPr sz="3150" b="0" i="0">
                <a:solidFill>
                  <a:srgbClr val="171613"/>
                </a:solidFill>
                <a:latin typeface="Georgia"/>
                <a:ea typeface="Georgia"/>
                <a:cs typeface="Georgia"/>
              </a:rPr>
              <a:t>A portfolio should feel like an exhibition,</a:t>
            </a:r>
          </a:p>
          <a:p xmlns:a="http://schemas.openxmlformats.org/drawingml/2006/main">
            <a:pPr algn="l">
              <a:lnSpc>
                <a:spcPct val="98000"/>
              </a:lnSpc>
              <a:buNone/>
              <a:defRPr sz="3150" b="0" i="0">
                <a:solidFill>
                  <a:srgbClr val="171613"/>
                </a:solidFill>
                <a:latin typeface="Georgia"/>
                <a:ea typeface="Georgia"/>
                <a:cs typeface="Georgia"/>
              </a:defRPr>
            </a:pPr>
            <a:r>
              <a:rPr sz="3150" b="0" i="0">
                <a:solidFill>
                  <a:srgbClr val="171613"/>
                </a:solidFill>
                <a:latin typeface="Georgia"/>
                <a:ea typeface="Georgia"/>
                <a:cs typeface="Georgia"/>
              </a:rPr>
              <a:t>not a profile form.</a:t>
            </a:r>
          </a:p>
        </p:txBody>
      </p:sp>
      <p:sp>
        <p:nvSpPr>
          <p:cNvPr id="6" name="paper-frame-CampusFlow Portfolio page screenshot.png">
            <a:extLst xmlns:a="http://schemas.openxmlformats.org/drawingml/2006/main">
              <a:ext uri="{FF2B5EF4-FFF2-40B4-BE49-F238E27FC236}">
                <a16:creationId xmlns:a16="http://schemas.microsoft.com/office/drawing/2014/main" id="{F3F68CB6-9EFE-4354-B84A-F5B73F2C7A79}"/>
              </a:ext>
            </a:extLst>
          </p:cNvPr>
          <p:cNvSpPr>
            <a:spLocks xmlns:a="http://schemas.openxmlformats.org/drawingml/2006/main" noGrp="1"/>
          </p:cNvSpPr>
          <p:nvPr/>
        </p:nvSpPr>
        <p:spPr>
          <a:xfrm xmlns:a="http://schemas.openxmlformats.org/drawingml/2006/main" rot="0">
            <a:off x="552450" y="1981200"/>
            <a:ext cx="7924800" cy="430530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464e350954c486f"/>
          <a:srcRect xmlns:a="http://schemas.openxmlformats.org/drawingml/2006/main" l="0" t="4276" r="0" b="4276"/>
          <a:stretch xmlns:a="http://schemas.openxmlformats.org/drawingml/2006/main">
            <a:fillRect l="0" t="0" r="0" b="0"/>
          </a:stretch>
        </p:blipFill>
        <p:spPr>
          <a:xfrm xmlns:a="http://schemas.openxmlformats.org/drawingml/2006/main">
            <a:off x="628650" y="2057400"/>
            <a:ext cx="7772400" cy="4000500"/>
          </a:xfrm>
          <a:prstGeom xmlns:a="http://schemas.openxmlformats.org/drawingml/2006/main" prst="rect">
            <a:avLst/>
          </a:prstGeom>
        </p:spPr>
      </p:pic>
      <p:sp>
        <p:nvSpPr>
          <p:cNvPr id="8" name="text-etz747">
            <a:extLst xmlns:a="http://schemas.openxmlformats.org/drawingml/2006/main">
              <a:ext uri="{FF2B5EF4-FFF2-40B4-BE49-F238E27FC236}">
                <a16:creationId xmlns:a16="http://schemas.microsoft.com/office/drawing/2014/main" id="{5EF9EE83-DEA5-4E18-B1C0-7657C6D0DD47}"/>
              </a:ext>
            </a:extLst>
          </p:cNvPr>
          <p:cNvSpPr>
            <a:spLocks xmlns:a="http://schemas.openxmlformats.org/drawingml/2006/main" noGrp="1"/>
          </p:cNvSpPr>
          <p:nvPr/>
        </p:nvSpPr>
        <p:spPr>
          <a:xfrm xmlns:a="http://schemas.openxmlformats.org/drawingml/2006/main">
            <a:off x="8782050" y="22479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01</a:t>
            </a:r>
          </a:p>
        </p:txBody>
      </p:sp>
      <p:sp>
        <p:nvSpPr>
          <p:cNvPr id="9" name="text-afxkhe">
            <a:extLst xmlns:a="http://schemas.openxmlformats.org/drawingml/2006/main">
              <a:ext uri="{FF2B5EF4-FFF2-40B4-BE49-F238E27FC236}">
                <a16:creationId xmlns:a16="http://schemas.microsoft.com/office/drawing/2014/main" id="{9B6A148F-5584-4E61-A98A-ADF4CA2765FC}"/>
              </a:ext>
            </a:extLst>
          </p:cNvPr>
          <p:cNvSpPr>
            <a:spLocks xmlns:a="http://schemas.openxmlformats.org/drawingml/2006/main" noGrp="1"/>
          </p:cNvSpPr>
          <p:nvPr/>
        </p:nvSpPr>
        <p:spPr>
          <a:xfrm xmlns:a="http://schemas.openxmlformats.org/drawingml/2006/main">
            <a:off x="9220200" y="2219325"/>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Guest exhibition</a:t>
            </a:r>
          </a:p>
        </p:txBody>
      </p:sp>
      <p:sp>
        <p:nvSpPr>
          <p:cNvPr id="10" name="text-0rwb7i">
            <a:extLst xmlns:a="http://schemas.openxmlformats.org/drawingml/2006/main">
              <a:ext uri="{FF2B5EF4-FFF2-40B4-BE49-F238E27FC236}">
                <a16:creationId xmlns:a16="http://schemas.microsoft.com/office/drawing/2014/main" id="{9228EAC2-31CE-494E-8264-1092E504B94D}"/>
              </a:ext>
            </a:extLst>
          </p:cNvPr>
          <p:cNvSpPr>
            <a:spLocks xmlns:a="http://schemas.openxmlformats.org/drawingml/2006/main" noGrp="1"/>
          </p:cNvSpPr>
          <p:nvPr/>
        </p:nvSpPr>
        <p:spPr>
          <a:xfrm xmlns:a="http://schemas.openxmlformats.org/drawingml/2006/main">
            <a:off x="9220200" y="253365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Four distinct preset works keep the public page complete.</a:t>
            </a:r>
          </a:p>
        </p:txBody>
      </p:sp>
      <p:sp>
        <p:nvSpPr>
          <p:cNvPr id="11" name="text-8ziks3">
            <a:extLst xmlns:a="http://schemas.openxmlformats.org/drawingml/2006/main">
              <a:ext uri="{FF2B5EF4-FFF2-40B4-BE49-F238E27FC236}">
                <a16:creationId xmlns:a16="http://schemas.microsoft.com/office/drawing/2014/main" id="{56715BD3-C244-4B39-9FE2-ED84DC75901D}"/>
              </a:ext>
            </a:extLst>
          </p:cNvPr>
          <p:cNvSpPr>
            <a:spLocks xmlns:a="http://schemas.openxmlformats.org/drawingml/2006/main" noGrp="1"/>
          </p:cNvSpPr>
          <p:nvPr/>
        </p:nvSpPr>
        <p:spPr>
          <a:xfrm xmlns:a="http://schemas.openxmlformats.org/drawingml/2006/main">
            <a:off x="8782050" y="34861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02</a:t>
            </a:r>
          </a:p>
        </p:txBody>
      </p:sp>
      <p:sp>
        <p:nvSpPr>
          <p:cNvPr id="12" name="text-rcvfia">
            <a:extLst xmlns:a="http://schemas.openxmlformats.org/drawingml/2006/main">
              <a:ext uri="{FF2B5EF4-FFF2-40B4-BE49-F238E27FC236}">
                <a16:creationId xmlns:a16="http://schemas.microsoft.com/office/drawing/2014/main" id="{DC30A7DC-AB89-4B2E-AE2A-940D1C7449E7}"/>
              </a:ext>
            </a:extLst>
          </p:cNvPr>
          <p:cNvSpPr>
            <a:spLocks xmlns:a="http://schemas.openxmlformats.org/drawingml/2006/main" noGrp="1"/>
          </p:cNvSpPr>
          <p:nvPr/>
        </p:nvSpPr>
        <p:spPr>
          <a:xfrm xmlns:a="http://schemas.openxmlformats.org/drawingml/2006/main">
            <a:off x="9220200" y="3457575"/>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Owner editing</a:t>
            </a:r>
          </a:p>
        </p:txBody>
      </p:sp>
      <p:sp>
        <p:nvSpPr>
          <p:cNvPr id="13" name="text-305ta7">
            <a:extLst xmlns:a="http://schemas.openxmlformats.org/drawingml/2006/main">
              <a:ext uri="{FF2B5EF4-FFF2-40B4-BE49-F238E27FC236}">
                <a16:creationId xmlns:a16="http://schemas.microsoft.com/office/drawing/2014/main" id="{FA09258A-3B67-49C4-9B0A-3C61E9B2B624}"/>
              </a:ext>
            </a:extLst>
          </p:cNvPr>
          <p:cNvSpPr>
            <a:spLocks xmlns:a="http://schemas.openxmlformats.org/drawingml/2006/main" noGrp="1"/>
          </p:cNvSpPr>
          <p:nvPr/>
        </p:nvSpPr>
        <p:spPr>
          <a:xfrm xmlns:a="http://schemas.openxmlformats.org/drawingml/2006/main">
            <a:off x="9220200" y="377190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Signed-in users manage only their own profile and works.</a:t>
            </a:r>
          </a:p>
        </p:txBody>
      </p:sp>
      <p:sp>
        <p:nvSpPr>
          <p:cNvPr id="14" name="text-slleer">
            <a:extLst xmlns:a="http://schemas.openxmlformats.org/drawingml/2006/main">
              <a:ext uri="{FF2B5EF4-FFF2-40B4-BE49-F238E27FC236}">
                <a16:creationId xmlns:a16="http://schemas.microsoft.com/office/drawing/2014/main" id="{8BAC2FB1-B74C-4F95-9D59-88DDA757D367}"/>
              </a:ext>
            </a:extLst>
          </p:cNvPr>
          <p:cNvSpPr>
            <a:spLocks xmlns:a="http://schemas.openxmlformats.org/drawingml/2006/main" noGrp="1"/>
          </p:cNvSpPr>
          <p:nvPr/>
        </p:nvSpPr>
        <p:spPr>
          <a:xfrm xmlns:a="http://schemas.openxmlformats.org/drawingml/2006/main">
            <a:off x="8782050" y="47244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03</a:t>
            </a:r>
          </a:p>
        </p:txBody>
      </p:sp>
      <p:sp>
        <p:nvSpPr>
          <p:cNvPr id="15" name="text-vukyn0">
            <a:extLst xmlns:a="http://schemas.openxmlformats.org/drawingml/2006/main">
              <a:ext uri="{FF2B5EF4-FFF2-40B4-BE49-F238E27FC236}">
                <a16:creationId xmlns:a16="http://schemas.microsoft.com/office/drawing/2014/main" id="{B0CC3905-9C36-454E-AC72-68FE48B0517A}"/>
              </a:ext>
            </a:extLst>
          </p:cNvPr>
          <p:cNvSpPr>
            <a:spLocks xmlns:a="http://schemas.openxmlformats.org/drawingml/2006/main" noGrp="1"/>
          </p:cNvSpPr>
          <p:nvPr/>
        </p:nvSpPr>
        <p:spPr>
          <a:xfrm xmlns:a="http://schemas.openxmlformats.org/drawingml/2006/main">
            <a:off x="9220200" y="4695825"/>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Flexible content</a:t>
            </a:r>
          </a:p>
        </p:txBody>
      </p:sp>
      <p:sp>
        <p:nvSpPr>
          <p:cNvPr id="16" name="text-ozgow2">
            <a:extLst xmlns:a="http://schemas.openxmlformats.org/drawingml/2006/main">
              <a:ext uri="{FF2B5EF4-FFF2-40B4-BE49-F238E27FC236}">
                <a16:creationId xmlns:a16="http://schemas.microsoft.com/office/drawing/2014/main" id="{B0731787-7AA0-4F1E-BEA0-5313FB0D832C}"/>
              </a:ext>
            </a:extLst>
          </p:cNvPr>
          <p:cNvSpPr>
            <a:spLocks xmlns:a="http://schemas.openxmlformats.org/drawingml/2006/main" noGrp="1"/>
          </p:cNvSpPr>
          <p:nvPr/>
        </p:nvSpPr>
        <p:spPr>
          <a:xfrm xmlns:a="http://schemas.openxmlformats.org/drawingml/2006/main">
            <a:off x="9220200" y="501015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Photography, drawing, design, notes, or a mixed collection.</a:t>
            </a:r>
          </a:p>
        </p:txBody>
      </p:sp>
    </p:spTree>
    <p:extLst>
      <p:ext uri="{BB962C8B-B14F-4D97-AF65-F5344CB8AC3E}">
        <p14:creationId xmlns:p14="http://schemas.microsoft.com/office/powerpoint/2010/main" val="388851627"/>
      </p:ext>
    </p:extLst>
  </p:cSld>
</p:sld>
</file>

<file path=ppt/slides/slide8.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15" name="rule-52-42">
            <a:extLst xmlns:a="http://schemas.openxmlformats.org/drawingml/2006/main">
              <a:ext uri="{FF2B5EF4-FFF2-40B4-BE49-F238E27FC236}">
                <a16:creationId xmlns:a16="http://schemas.microsoft.com/office/drawing/2014/main" id="{2FC60CAF-47B3-414D-836F-FC271A733FE5}"/>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eu071r">
            <a:extLst xmlns:a="http://schemas.openxmlformats.org/drawingml/2006/main">
              <a:ext uri="{FF2B5EF4-FFF2-40B4-BE49-F238E27FC236}">
                <a16:creationId xmlns:a16="http://schemas.microsoft.com/office/drawing/2014/main" id="{B4ED7925-C1C0-46EC-B051-97EF710A834F}"/>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ACCOUNT / AUTHORIZATION</a:t>
            </a:r>
          </a:p>
        </p:txBody>
      </p:sp>
      <p:sp>
        <p:nvSpPr>
          <p:cNvPr id="3" name="rule-52-675">
            <a:extLst xmlns:a="http://schemas.openxmlformats.org/drawingml/2006/main">
              <a:ext uri="{FF2B5EF4-FFF2-40B4-BE49-F238E27FC236}">
                <a16:creationId xmlns:a16="http://schemas.microsoft.com/office/drawing/2014/main" id="{126AE6B3-7B40-45B7-A0C0-E0408F20A0B6}"/>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wnjcyq">
            <a:extLst xmlns:a="http://schemas.openxmlformats.org/drawingml/2006/main">
              <a:ext uri="{FF2B5EF4-FFF2-40B4-BE49-F238E27FC236}">
                <a16:creationId xmlns:a16="http://schemas.microsoft.com/office/drawing/2014/main" id="{5BEC5F7C-DE5A-418D-87AF-DE99289A6F28}"/>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08</a:t>
            </a:r>
          </a:p>
        </p:txBody>
      </p:sp>
      <p:sp>
        <p:nvSpPr>
          <p:cNvPr id="5" name="text-ei2yx8">
            <a:extLst xmlns:a="http://schemas.openxmlformats.org/drawingml/2006/main">
              <a:ext uri="{FF2B5EF4-FFF2-40B4-BE49-F238E27FC236}">
                <a16:creationId xmlns:a16="http://schemas.microsoft.com/office/drawing/2014/main" id="{B8093A8C-27A5-4DF9-8356-371C857184FC}"/>
              </a:ext>
            </a:extLst>
          </p:cNvPr>
          <p:cNvSpPr>
            <a:spLocks xmlns:a="http://schemas.openxmlformats.org/drawingml/2006/main" noGrp="1"/>
          </p:cNvSpPr>
          <p:nvPr/>
        </p:nvSpPr>
        <p:spPr>
          <a:xfrm xmlns:a="http://schemas.openxmlformats.org/drawingml/2006/main">
            <a:off x="514350" y="762000"/>
            <a:ext cx="4953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300" b="0" i="0">
                <a:solidFill>
                  <a:srgbClr val="171613"/>
                </a:solidFill>
                <a:latin typeface="Georgia"/>
                <a:ea typeface="Georgia"/>
                <a:cs typeface="Georgia"/>
              </a:defRPr>
            </a:pPr>
            <a:r>
              <a:rPr sz="3300" b="0" i="0">
                <a:solidFill>
                  <a:srgbClr val="171613"/>
                </a:solidFill>
                <a:latin typeface="Georgia"/>
                <a:ea typeface="Georgia"/>
                <a:cs typeface="Georgia"/>
              </a:rPr>
              <a:t>Local accounts come first.</a:t>
            </a:r>
          </a:p>
          <a:p xmlns:a="http://schemas.openxmlformats.org/drawingml/2006/main">
            <a:pPr algn="l">
              <a:lnSpc>
                <a:spcPct val="98000"/>
              </a:lnSpc>
              <a:buNone/>
              <a:defRPr sz="3300" b="0" i="0">
                <a:solidFill>
                  <a:srgbClr val="171613"/>
                </a:solidFill>
                <a:latin typeface="Georgia"/>
                <a:ea typeface="Georgia"/>
                <a:cs typeface="Georgia"/>
              </a:defRPr>
            </a:pPr>
            <a:r>
              <a:rPr sz="3300" b="0" i="0">
                <a:solidFill>
                  <a:srgbClr val="171613"/>
                </a:solidFill>
                <a:latin typeface="Georgia"/>
                <a:ea typeface="Georgia"/>
                <a:cs typeface="Georgia"/>
              </a:rPr>
              <a:t>OAuth stays optional.</a:t>
            </a:r>
          </a:p>
        </p:txBody>
      </p:sp>
      <p:sp>
        <p:nvSpPr>
          <p:cNvPr id="6" name="text-xjyjzh">
            <a:extLst xmlns:a="http://schemas.openxmlformats.org/drawingml/2006/main">
              <a:ext uri="{FF2B5EF4-FFF2-40B4-BE49-F238E27FC236}">
                <a16:creationId xmlns:a16="http://schemas.microsoft.com/office/drawing/2014/main" id="{BD90362E-F839-4CBB-BE9E-012878043FEA}"/>
              </a:ext>
            </a:extLst>
          </p:cNvPr>
          <p:cNvSpPr>
            <a:spLocks xmlns:a="http://schemas.openxmlformats.org/drawingml/2006/main" noGrp="1"/>
          </p:cNvSpPr>
          <p:nvPr/>
        </p:nvSpPr>
        <p:spPr>
          <a:xfrm xmlns:a="http://schemas.openxmlformats.org/drawingml/2006/main">
            <a:off x="552450" y="2190750"/>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8000"/>
              </a:lnSpc>
              <a:buNone/>
              <a:defRPr sz="1500" b="0" i="0">
                <a:solidFill>
                  <a:srgbClr val="4D4942"/>
                </a:solidFill>
                <a:latin typeface="Yu Gothic"/>
                <a:ea typeface="Yu Gothic"/>
                <a:cs typeface="Yu Gothic"/>
              </a:defRPr>
            </a:pPr>
            <a:r>
              <a:rPr sz="1500" b="0" i="0">
                <a:solidFill>
                  <a:srgbClr val="4D4942"/>
                </a:solidFill>
                <a:latin typeface="Yu Gothic"/>
                <a:ea typeface="Yu Gothic"/>
                <a:cs typeface="Yu Gothic"/>
              </a:rPr>
              <a:t>The account page keeps the primary task clear: register or sign in with a masked password, then edit the work you own.</a:t>
            </a:r>
          </a:p>
        </p:txBody>
      </p:sp>
      <p:sp>
        <p:nvSpPr>
          <p:cNvPr id="7" name="text-6cpp1n">
            <a:extLst xmlns:a="http://schemas.openxmlformats.org/drawingml/2006/main">
              <a:ext uri="{FF2B5EF4-FFF2-40B4-BE49-F238E27FC236}">
                <a16:creationId xmlns:a16="http://schemas.microsoft.com/office/drawing/2014/main" id="{15E53A4D-505C-4959-A56B-CF41660E6D39}"/>
              </a:ext>
            </a:extLst>
          </p:cNvPr>
          <p:cNvSpPr>
            <a:spLocks xmlns:a="http://schemas.openxmlformats.org/drawingml/2006/main" noGrp="1"/>
          </p:cNvSpPr>
          <p:nvPr/>
        </p:nvSpPr>
        <p:spPr>
          <a:xfrm xmlns:a="http://schemas.openxmlformats.org/drawingml/2006/main">
            <a:off x="552450" y="36957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01</a:t>
            </a:r>
          </a:p>
        </p:txBody>
      </p:sp>
      <p:sp>
        <p:nvSpPr>
          <p:cNvPr id="8" name="text-pn8feq">
            <a:extLst xmlns:a="http://schemas.openxmlformats.org/drawingml/2006/main">
              <a:ext uri="{FF2B5EF4-FFF2-40B4-BE49-F238E27FC236}">
                <a16:creationId xmlns:a16="http://schemas.microsoft.com/office/drawing/2014/main" id="{F033F62E-8DC8-44D1-BC41-BFC667425F5B}"/>
              </a:ext>
            </a:extLst>
          </p:cNvPr>
          <p:cNvSpPr>
            <a:spLocks xmlns:a="http://schemas.openxmlformats.org/drawingml/2006/main" noGrp="1"/>
          </p:cNvSpPr>
          <p:nvPr/>
        </p:nvSpPr>
        <p:spPr>
          <a:xfrm xmlns:a="http://schemas.openxmlformats.org/drawingml/2006/main">
            <a:off x="990600" y="3667125"/>
            <a:ext cx="3467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Local registration</a:t>
            </a:r>
          </a:p>
        </p:txBody>
      </p:sp>
      <p:sp>
        <p:nvSpPr>
          <p:cNvPr id="9" name="text-goqtpm">
            <a:extLst xmlns:a="http://schemas.openxmlformats.org/drawingml/2006/main">
              <a:ext uri="{FF2B5EF4-FFF2-40B4-BE49-F238E27FC236}">
                <a16:creationId xmlns:a16="http://schemas.microsoft.com/office/drawing/2014/main" id="{D3B25E81-A1CA-4AA1-8154-9877B090E828}"/>
              </a:ext>
            </a:extLst>
          </p:cNvPr>
          <p:cNvSpPr>
            <a:spLocks xmlns:a="http://schemas.openxmlformats.org/drawingml/2006/main" noGrp="1"/>
          </p:cNvSpPr>
          <p:nvPr/>
        </p:nvSpPr>
        <p:spPr>
          <a:xfrm xmlns:a="http://schemas.openxmlformats.org/drawingml/2006/main">
            <a:off x="990600" y="3981450"/>
            <a:ext cx="346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Public registration always creates a normal USER.</a:t>
            </a:r>
          </a:p>
        </p:txBody>
      </p:sp>
      <p:sp>
        <p:nvSpPr>
          <p:cNvPr id="10" name="text-i6lcw0">
            <a:extLst xmlns:a="http://schemas.openxmlformats.org/drawingml/2006/main">
              <a:ext uri="{FF2B5EF4-FFF2-40B4-BE49-F238E27FC236}">
                <a16:creationId xmlns:a16="http://schemas.microsoft.com/office/drawing/2014/main" id="{A8690CB5-FEE2-4E75-AF70-D2D28563BA7D}"/>
              </a:ext>
            </a:extLst>
          </p:cNvPr>
          <p:cNvSpPr>
            <a:spLocks xmlns:a="http://schemas.openxmlformats.org/drawingml/2006/main" noGrp="1"/>
          </p:cNvSpPr>
          <p:nvPr/>
        </p:nvSpPr>
        <p:spPr>
          <a:xfrm xmlns:a="http://schemas.openxmlformats.org/drawingml/2006/main">
            <a:off x="552450" y="47244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02</a:t>
            </a:r>
          </a:p>
        </p:txBody>
      </p:sp>
      <p:sp>
        <p:nvSpPr>
          <p:cNvPr id="11" name="text-9gvj7j">
            <a:extLst xmlns:a="http://schemas.openxmlformats.org/drawingml/2006/main">
              <a:ext uri="{FF2B5EF4-FFF2-40B4-BE49-F238E27FC236}">
                <a16:creationId xmlns:a16="http://schemas.microsoft.com/office/drawing/2014/main" id="{B6541A83-57DF-4190-A2F7-AF19B43261D5}"/>
              </a:ext>
            </a:extLst>
          </p:cNvPr>
          <p:cNvSpPr>
            <a:spLocks xmlns:a="http://schemas.openxmlformats.org/drawingml/2006/main" noGrp="1"/>
          </p:cNvSpPr>
          <p:nvPr/>
        </p:nvSpPr>
        <p:spPr>
          <a:xfrm xmlns:a="http://schemas.openxmlformats.org/drawingml/2006/main">
            <a:off x="990600" y="4695825"/>
            <a:ext cx="3467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Third-party identity</a:t>
            </a:r>
          </a:p>
        </p:txBody>
      </p:sp>
      <p:sp>
        <p:nvSpPr>
          <p:cNvPr id="12" name="text-eyxspp">
            <a:extLst xmlns:a="http://schemas.openxmlformats.org/drawingml/2006/main">
              <a:ext uri="{FF2B5EF4-FFF2-40B4-BE49-F238E27FC236}">
                <a16:creationId xmlns:a16="http://schemas.microsoft.com/office/drawing/2014/main" id="{697B2784-B758-4712-90ED-F38D0B8D1176}"/>
              </a:ext>
            </a:extLst>
          </p:cNvPr>
          <p:cNvSpPr>
            <a:spLocks xmlns:a="http://schemas.openxmlformats.org/drawingml/2006/main" noGrp="1"/>
          </p:cNvSpPr>
          <p:nvPr/>
        </p:nvSpPr>
        <p:spPr>
          <a:xfrm xmlns:a="http://schemas.openxmlformats.org/drawingml/2006/main">
            <a:off x="990600" y="5010150"/>
            <a:ext cx="3467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Google and GitHub remain secondary paths.</a:t>
            </a:r>
          </a:p>
        </p:txBody>
      </p:sp>
      <p:sp>
        <p:nvSpPr>
          <p:cNvPr id="13" name="paper-frame-CampusFlow account dialog screenshot.png">
            <a:extLst xmlns:a="http://schemas.openxmlformats.org/drawingml/2006/main">
              <a:ext uri="{FF2B5EF4-FFF2-40B4-BE49-F238E27FC236}">
                <a16:creationId xmlns:a16="http://schemas.microsoft.com/office/drawing/2014/main" id="{BEE48313-5A25-47A5-B1E5-365DFD05C878}"/>
              </a:ext>
            </a:extLst>
          </p:cNvPr>
          <p:cNvSpPr>
            <a:spLocks xmlns:a="http://schemas.openxmlformats.org/drawingml/2006/main" noGrp="1"/>
          </p:cNvSpPr>
          <p:nvPr/>
        </p:nvSpPr>
        <p:spPr>
          <a:xfrm xmlns:a="http://schemas.openxmlformats.org/drawingml/2006/main" rot="0">
            <a:off x="5295900" y="819150"/>
            <a:ext cx="6343650" cy="504825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e60a77f54fc4e44"/>
          <a:srcRect xmlns:a="http://schemas.openxmlformats.org/drawingml/2006/main" l="13291" t="0" r="13291" b="0"/>
          <a:stretch xmlns:a="http://schemas.openxmlformats.org/drawingml/2006/main">
            <a:fillRect l="0" t="0" r="0" b="0"/>
          </a:stretch>
        </p:blipFill>
        <p:spPr>
          <a:xfrm xmlns:a="http://schemas.openxmlformats.org/drawingml/2006/main">
            <a:off x="5372100" y="895350"/>
            <a:ext cx="6191250" cy="4743450"/>
          </a:xfrm>
          <a:prstGeom xmlns:a="http://schemas.openxmlformats.org/drawingml/2006/main" prst="rect">
            <a:avLst/>
          </a:prstGeom>
        </p:spPr>
      </p:pic>
    </p:spTree>
    <p:extLst>
      <p:ext uri="{BB962C8B-B14F-4D97-AF65-F5344CB8AC3E}">
        <p14:creationId xmlns:p14="http://schemas.microsoft.com/office/powerpoint/2010/main" val="1582094830"/>
      </p:ext>
    </p:extLst>
  </p:cSld>
</p:sld>
</file>

<file path=ppt/slides/slide9.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19" name="rule-52-42">
            <a:extLst xmlns:a="http://schemas.openxmlformats.org/drawingml/2006/main">
              <a:ext uri="{FF2B5EF4-FFF2-40B4-BE49-F238E27FC236}">
                <a16:creationId xmlns:a16="http://schemas.microsoft.com/office/drawing/2014/main" id="{0C3A09A3-F6F7-4DEF-8D15-0BCDCF6B18ED}"/>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jrgwxe">
            <a:extLst xmlns:a="http://schemas.openxmlformats.org/drawingml/2006/main">
              <a:ext uri="{FF2B5EF4-FFF2-40B4-BE49-F238E27FC236}">
                <a16:creationId xmlns:a16="http://schemas.microsoft.com/office/drawing/2014/main" id="{48F644AE-9E15-4F64-99E8-183A083E4FAC}"/>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DESIGN LANGUAGE</a:t>
            </a:r>
          </a:p>
        </p:txBody>
      </p:sp>
      <p:sp>
        <p:nvSpPr>
          <p:cNvPr id="3" name="rule-52-675">
            <a:extLst xmlns:a="http://schemas.openxmlformats.org/drawingml/2006/main">
              <a:ext uri="{FF2B5EF4-FFF2-40B4-BE49-F238E27FC236}">
                <a16:creationId xmlns:a16="http://schemas.microsoft.com/office/drawing/2014/main" id="{DF753792-34AB-44BE-BD2F-34F391A5C581}"/>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pbq549">
            <a:extLst xmlns:a="http://schemas.openxmlformats.org/drawingml/2006/main">
              <a:ext uri="{FF2B5EF4-FFF2-40B4-BE49-F238E27FC236}">
                <a16:creationId xmlns:a16="http://schemas.microsoft.com/office/drawing/2014/main" id="{6FE77D45-3632-4932-9D4C-79F3DCC3DD7C}"/>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09</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9281305c00446bb"/>
          <a:srcRect xmlns:a="http://schemas.openxmlformats.org/drawingml/2006/main" l="0" t="28591" r="0" b="28591"/>
          <a:stretch xmlns:a="http://schemas.openxmlformats.org/drawingml/2006/main">
            <a:fillRect l="0" t="0" r="0" b="0"/>
          </a:stretch>
        </p:blipFill>
        <p:spPr>
          <a:xfrm xmlns:a="http://schemas.openxmlformats.org/drawingml/2006/main">
            <a:off x="0" y="0"/>
            <a:ext cx="12192000" cy="2400300"/>
          </a:xfrm>
          <a:prstGeom xmlns:a="http://schemas.openxmlformats.org/drawingml/2006/main" prst="rect">
            <a:avLst/>
          </a:prstGeom>
        </p:spPr>
      </p:pic>
      <p:sp>
        <p:nvSpPr>
          <p:cNvPr id="6" name="design-paper-block">
            <a:extLst xmlns:a="http://schemas.openxmlformats.org/drawingml/2006/main">
              <a:ext uri="{FF2B5EF4-FFF2-40B4-BE49-F238E27FC236}">
                <a16:creationId xmlns:a16="http://schemas.microsoft.com/office/drawing/2014/main" id="{6265B6D3-722F-4E98-AE9F-F369698A4006}"/>
              </a:ext>
            </a:extLst>
          </p:cNvPr>
          <p:cNvSpPr>
            <a:spLocks xmlns:a="http://schemas.openxmlformats.org/drawingml/2006/main" noGrp="1"/>
          </p:cNvSpPr>
          <p:nvPr/>
        </p:nvSpPr>
        <p:spPr>
          <a:xfrm xmlns:a="http://schemas.openxmlformats.org/drawingml/2006/main">
            <a:off x="0" y="2190750"/>
            <a:ext cx="12192000" cy="4667250"/>
          </a:xfrm>
          <a:prstGeom xmlns:a="http://schemas.openxmlformats.org/drawingml/2006/main" prst="rect">
            <a:avLst/>
          </a:prstGeom>
          <a:solidFill xmlns:a="http://schemas.openxmlformats.org/drawingml/2006/main">
            <a:srgbClr val="F2EEE6"/>
          </a:solidFill>
          <a:ln xmlns:a="http://schemas.openxmlformats.org/drawingml/2006/main" w="0">
            <a:noFill/>
            <a:prstDash val="solid"/>
          </a:ln>
        </p:spPr>
      </p:sp>
      <p:sp>
        <p:nvSpPr>
          <p:cNvPr id="7" name="text-nyzmkk">
            <a:extLst xmlns:a="http://schemas.openxmlformats.org/drawingml/2006/main">
              <a:ext uri="{FF2B5EF4-FFF2-40B4-BE49-F238E27FC236}">
                <a16:creationId xmlns:a16="http://schemas.microsoft.com/office/drawing/2014/main" id="{0F8357A0-5098-4428-9D10-8EA068C84578}"/>
              </a:ext>
            </a:extLst>
          </p:cNvPr>
          <p:cNvSpPr>
            <a:spLocks xmlns:a="http://schemas.openxmlformats.org/drawingml/2006/main" noGrp="1"/>
          </p:cNvSpPr>
          <p:nvPr/>
        </p:nvSpPr>
        <p:spPr>
          <a:xfrm xmlns:a="http://schemas.openxmlformats.org/drawingml/2006/main">
            <a:off x="514350" y="2628900"/>
            <a:ext cx="619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300" b="0" i="0">
                <a:solidFill>
                  <a:srgbClr val="171613"/>
                </a:solidFill>
                <a:latin typeface="Georgia"/>
                <a:ea typeface="Georgia"/>
                <a:cs typeface="Georgia"/>
              </a:defRPr>
            </a:pPr>
            <a:r>
              <a:rPr sz="3300" b="0" i="0">
                <a:solidFill>
                  <a:srgbClr val="171613"/>
                </a:solidFill>
                <a:latin typeface="Georgia"/>
                <a:ea typeface="Georgia"/>
                <a:cs typeface="Georgia"/>
              </a:rPr>
              <a:t>Designed like a small editorial,</a:t>
            </a:r>
          </a:p>
          <a:p xmlns:a="http://schemas.openxmlformats.org/drawingml/2006/main">
            <a:pPr algn="l">
              <a:lnSpc>
                <a:spcPct val="98000"/>
              </a:lnSpc>
              <a:buNone/>
              <a:defRPr sz="3300" b="0" i="0">
                <a:solidFill>
                  <a:srgbClr val="171613"/>
                </a:solidFill>
                <a:latin typeface="Georgia"/>
                <a:ea typeface="Georgia"/>
                <a:cs typeface="Georgia"/>
              </a:defRPr>
            </a:pPr>
            <a:r>
              <a:rPr sz="3300" b="0" i="0">
                <a:solidFill>
                  <a:srgbClr val="171613"/>
                </a:solidFill>
                <a:latin typeface="Georgia"/>
                <a:ea typeface="Georgia"/>
                <a:cs typeface="Georgia"/>
              </a:rPr>
              <a:t>not a dashboard.</a:t>
            </a:r>
          </a:p>
        </p:txBody>
      </p:sp>
      <p:sp>
        <p:nvSpPr>
          <p:cNvPr id="8" name="paper-frame-Red temple architecture">
            <a:extLst xmlns:a="http://schemas.openxmlformats.org/drawingml/2006/main">
              <a:ext uri="{FF2B5EF4-FFF2-40B4-BE49-F238E27FC236}">
                <a16:creationId xmlns:a16="http://schemas.microsoft.com/office/drawing/2014/main" id="{85194F4F-0788-4861-91EA-B0D43C384676}"/>
              </a:ext>
            </a:extLst>
          </p:cNvPr>
          <p:cNvSpPr>
            <a:spLocks xmlns:a="http://schemas.openxmlformats.org/drawingml/2006/main" noGrp="1"/>
          </p:cNvSpPr>
          <p:nvPr/>
        </p:nvSpPr>
        <p:spPr>
          <a:xfrm xmlns:a="http://schemas.openxmlformats.org/drawingml/2006/main" rot="120000">
            <a:off x="7943850" y="2914650"/>
            <a:ext cx="3200400" cy="274320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38e9fd341c04206"/>
          <a:srcRect xmlns:a="http://schemas.openxmlformats.org/drawingml/2006/main" l="0" t="23312" r="0" b="23312"/>
          <a:stretch xmlns:a="http://schemas.openxmlformats.org/drawingml/2006/main">
            <a:fillRect l="0" t="0" r="0" b="0"/>
          </a:stretch>
        </p:blipFill>
        <p:spPr>
          <a:xfrm xmlns:a="http://schemas.openxmlformats.org/drawingml/2006/main" rot="120000">
            <a:off x="8020050" y="2990850"/>
            <a:ext cx="3048000" cy="2438400"/>
          </a:xfrm>
          <a:prstGeom xmlns:a="http://schemas.openxmlformats.org/drawingml/2006/main" prst="rect">
            <a:avLst/>
          </a:prstGeom>
        </p:spPr>
      </p:pic>
      <p:sp>
        <p:nvSpPr>
          <p:cNvPr id="10" name="text-ioph1b">
            <a:extLst xmlns:a="http://schemas.openxmlformats.org/drawingml/2006/main">
              <a:ext uri="{FF2B5EF4-FFF2-40B4-BE49-F238E27FC236}">
                <a16:creationId xmlns:a16="http://schemas.microsoft.com/office/drawing/2014/main" id="{674A1FF3-6239-4106-9D11-269DA52762A4}"/>
              </a:ext>
            </a:extLst>
          </p:cNvPr>
          <p:cNvSpPr>
            <a:spLocks xmlns:a="http://schemas.openxmlformats.org/drawingml/2006/main" noGrp="1"/>
          </p:cNvSpPr>
          <p:nvPr/>
        </p:nvSpPr>
        <p:spPr>
          <a:xfrm xmlns:a="http://schemas.openxmlformats.org/drawingml/2006/main">
            <a:off x="552450" y="41910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01</a:t>
            </a:r>
          </a:p>
        </p:txBody>
      </p:sp>
      <p:sp>
        <p:nvSpPr>
          <p:cNvPr id="11" name="text-pvcsb3">
            <a:extLst xmlns:a="http://schemas.openxmlformats.org/drawingml/2006/main">
              <a:ext uri="{FF2B5EF4-FFF2-40B4-BE49-F238E27FC236}">
                <a16:creationId xmlns:a16="http://schemas.microsoft.com/office/drawing/2014/main" id="{D40AB5F0-AD49-40E2-8561-A9FCA9918AE3}"/>
              </a:ext>
            </a:extLst>
          </p:cNvPr>
          <p:cNvSpPr>
            <a:spLocks xmlns:a="http://schemas.openxmlformats.org/drawingml/2006/main" noGrp="1"/>
          </p:cNvSpPr>
          <p:nvPr/>
        </p:nvSpPr>
        <p:spPr>
          <a:xfrm xmlns:a="http://schemas.openxmlformats.org/drawingml/2006/main">
            <a:off x="990600" y="4162425"/>
            <a:ext cx="2800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Paper and ink</a:t>
            </a:r>
          </a:p>
        </p:txBody>
      </p:sp>
      <p:sp>
        <p:nvSpPr>
          <p:cNvPr id="12" name="text-cbynfi">
            <a:extLst xmlns:a="http://schemas.openxmlformats.org/drawingml/2006/main">
              <a:ext uri="{FF2B5EF4-FFF2-40B4-BE49-F238E27FC236}">
                <a16:creationId xmlns:a16="http://schemas.microsoft.com/office/drawing/2014/main" id="{EE2296D0-E50D-4486-92A1-81725C96172B}"/>
              </a:ext>
            </a:extLst>
          </p:cNvPr>
          <p:cNvSpPr>
            <a:spLocks xmlns:a="http://schemas.openxmlformats.org/drawingml/2006/main" noGrp="1"/>
          </p:cNvSpPr>
          <p:nvPr/>
        </p:nvSpPr>
        <p:spPr>
          <a:xfrm xmlns:a="http://schemas.openxmlformats.org/drawingml/2006/main">
            <a:off x="990600" y="4476750"/>
            <a:ext cx="2800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Warm off-white surfaces make the interface readable during projection.</a:t>
            </a:r>
          </a:p>
        </p:txBody>
      </p:sp>
      <p:sp>
        <p:nvSpPr>
          <p:cNvPr id="13" name="text-zxslsu">
            <a:extLst xmlns:a="http://schemas.openxmlformats.org/drawingml/2006/main">
              <a:ext uri="{FF2B5EF4-FFF2-40B4-BE49-F238E27FC236}">
                <a16:creationId xmlns:a16="http://schemas.microsoft.com/office/drawing/2014/main" id="{1022FCF6-BBEA-4263-AAE9-6781E2FE5269}"/>
              </a:ext>
            </a:extLst>
          </p:cNvPr>
          <p:cNvSpPr>
            <a:spLocks xmlns:a="http://schemas.openxmlformats.org/drawingml/2006/main" noGrp="1"/>
          </p:cNvSpPr>
          <p:nvPr/>
        </p:nvSpPr>
        <p:spPr>
          <a:xfrm xmlns:a="http://schemas.openxmlformats.org/drawingml/2006/main">
            <a:off x="3790950" y="41910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02</a:t>
            </a:r>
          </a:p>
        </p:txBody>
      </p:sp>
      <p:sp>
        <p:nvSpPr>
          <p:cNvPr id="14" name="text-697kwe">
            <a:extLst xmlns:a="http://schemas.openxmlformats.org/drawingml/2006/main">
              <a:ext uri="{FF2B5EF4-FFF2-40B4-BE49-F238E27FC236}">
                <a16:creationId xmlns:a16="http://schemas.microsoft.com/office/drawing/2014/main" id="{190332B6-A33A-412A-A146-9D1641E1D044}"/>
              </a:ext>
            </a:extLst>
          </p:cNvPr>
          <p:cNvSpPr>
            <a:spLocks xmlns:a="http://schemas.openxmlformats.org/drawingml/2006/main" noGrp="1"/>
          </p:cNvSpPr>
          <p:nvPr/>
        </p:nvSpPr>
        <p:spPr>
          <a:xfrm xmlns:a="http://schemas.openxmlformats.org/drawingml/2006/main">
            <a:off x="4229100" y="4162425"/>
            <a:ext cx="2800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Cinematic crops</a:t>
            </a:r>
          </a:p>
        </p:txBody>
      </p:sp>
      <p:sp>
        <p:nvSpPr>
          <p:cNvPr id="15" name="text-6xlcm4">
            <a:extLst xmlns:a="http://schemas.openxmlformats.org/drawingml/2006/main">
              <a:ext uri="{FF2B5EF4-FFF2-40B4-BE49-F238E27FC236}">
                <a16:creationId xmlns:a16="http://schemas.microsoft.com/office/drawing/2014/main" id="{BEB8E469-4E79-466A-880F-46F726BCCD81}"/>
              </a:ext>
            </a:extLst>
          </p:cNvPr>
          <p:cNvSpPr>
            <a:spLocks xmlns:a="http://schemas.openxmlformats.org/drawingml/2006/main" noGrp="1"/>
          </p:cNvSpPr>
          <p:nvPr/>
        </p:nvSpPr>
        <p:spPr>
          <a:xfrm xmlns:a="http://schemas.openxmlformats.org/drawingml/2006/main">
            <a:off x="4229100" y="4476750"/>
            <a:ext cx="2800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Images carry atmosphere while supporting text stays quiet.</a:t>
            </a:r>
          </a:p>
        </p:txBody>
      </p:sp>
      <p:sp>
        <p:nvSpPr>
          <p:cNvPr id="16" name="text-5lfavh">
            <a:extLst xmlns:a="http://schemas.openxmlformats.org/drawingml/2006/main">
              <a:ext uri="{FF2B5EF4-FFF2-40B4-BE49-F238E27FC236}">
                <a16:creationId xmlns:a16="http://schemas.microsoft.com/office/drawing/2014/main" id="{72FEC30F-964B-44BC-946C-A2E858AB5607}"/>
              </a:ext>
            </a:extLst>
          </p:cNvPr>
          <p:cNvSpPr>
            <a:spLocks xmlns:a="http://schemas.openxmlformats.org/drawingml/2006/main" noGrp="1"/>
          </p:cNvSpPr>
          <p:nvPr/>
        </p:nvSpPr>
        <p:spPr>
          <a:xfrm xmlns:a="http://schemas.openxmlformats.org/drawingml/2006/main">
            <a:off x="552450" y="52197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03</a:t>
            </a:r>
          </a:p>
        </p:txBody>
      </p:sp>
      <p:sp>
        <p:nvSpPr>
          <p:cNvPr id="17" name="text-uj6no6">
            <a:extLst xmlns:a="http://schemas.openxmlformats.org/drawingml/2006/main">
              <a:ext uri="{FF2B5EF4-FFF2-40B4-BE49-F238E27FC236}">
                <a16:creationId xmlns:a16="http://schemas.microsoft.com/office/drawing/2014/main" id="{264C5FDC-CC77-40E1-99A3-B1FA28FB7059}"/>
              </a:ext>
            </a:extLst>
          </p:cNvPr>
          <p:cNvSpPr>
            <a:spLocks xmlns:a="http://schemas.openxmlformats.org/drawingml/2006/main" noGrp="1"/>
          </p:cNvSpPr>
          <p:nvPr/>
        </p:nvSpPr>
        <p:spPr>
          <a:xfrm xmlns:a="http://schemas.openxmlformats.org/drawingml/2006/main">
            <a:off x="990600" y="5191125"/>
            <a:ext cx="594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Vermilion marks</a:t>
            </a:r>
          </a:p>
        </p:txBody>
      </p:sp>
      <p:sp>
        <p:nvSpPr>
          <p:cNvPr id="18" name="text-dvwsgf">
            <a:extLst xmlns:a="http://schemas.openxmlformats.org/drawingml/2006/main">
              <a:ext uri="{FF2B5EF4-FFF2-40B4-BE49-F238E27FC236}">
                <a16:creationId xmlns:a16="http://schemas.microsoft.com/office/drawing/2014/main" id="{F1360B51-552F-4447-9500-2670C07E9306}"/>
              </a:ext>
            </a:extLst>
          </p:cNvPr>
          <p:cNvSpPr>
            <a:spLocks xmlns:a="http://schemas.openxmlformats.org/drawingml/2006/main" noGrp="1"/>
          </p:cNvSpPr>
          <p:nvPr/>
        </p:nvSpPr>
        <p:spPr>
          <a:xfrm xmlns:a="http://schemas.openxmlformats.org/drawingml/2006/main">
            <a:off x="990600" y="5505450"/>
            <a:ext cx="594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Red is used as an editorial annotation, not as decoration everywhere.</a:t>
            </a:r>
          </a:p>
        </p:txBody>
      </p:sp>
    </p:spTree>
    <p:extLst>
      <p:ext uri="{BB962C8B-B14F-4D97-AF65-F5344CB8AC3E}">
        <p14:creationId xmlns:p14="http://schemas.microsoft.com/office/powerpoint/2010/main" val="307684365"/>
      </p:ext>
    </p:extLst>
  </p:cSld>
</p:sld>
</file>

<file path=ppt/slides/slide10.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29" name="rule-52-42">
            <a:extLst xmlns:a="http://schemas.openxmlformats.org/drawingml/2006/main">
              <a:ext uri="{FF2B5EF4-FFF2-40B4-BE49-F238E27FC236}">
                <a16:creationId xmlns:a16="http://schemas.microsoft.com/office/drawing/2014/main" id="{9FD25E4A-6E36-491E-BB27-911D7E721471}"/>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k4peen">
            <a:extLst xmlns:a="http://schemas.openxmlformats.org/drawingml/2006/main">
              <a:ext uri="{FF2B5EF4-FFF2-40B4-BE49-F238E27FC236}">
                <a16:creationId xmlns:a16="http://schemas.microsoft.com/office/drawing/2014/main" id="{47CD8A85-EE2F-4584-A5F5-0544A8E8D4D1}"/>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SYSTEM ARCHITECTURE</a:t>
            </a:r>
          </a:p>
        </p:txBody>
      </p:sp>
      <p:sp>
        <p:nvSpPr>
          <p:cNvPr id="3" name="rule-52-675">
            <a:extLst xmlns:a="http://schemas.openxmlformats.org/drawingml/2006/main">
              <a:ext uri="{FF2B5EF4-FFF2-40B4-BE49-F238E27FC236}">
                <a16:creationId xmlns:a16="http://schemas.microsoft.com/office/drawing/2014/main" id="{442D3640-6F0A-40D7-A0A9-89CFE65B3673}"/>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ife2sz">
            <a:extLst xmlns:a="http://schemas.openxmlformats.org/drawingml/2006/main">
              <a:ext uri="{FF2B5EF4-FFF2-40B4-BE49-F238E27FC236}">
                <a16:creationId xmlns:a16="http://schemas.microsoft.com/office/drawing/2014/main" id="{32FD09D3-E793-4CA2-A49B-68616FF2117E}"/>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10</a:t>
            </a:r>
          </a:p>
        </p:txBody>
      </p:sp>
      <p:sp>
        <p:nvSpPr>
          <p:cNvPr id="5" name="text-jeyisj">
            <a:extLst xmlns:a="http://schemas.openxmlformats.org/drawingml/2006/main">
              <a:ext uri="{FF2B5EF4-FFF2-40B4-BE49-F238E27FC236}">
                <a16:creationId xmlns:a16="http://schemas.microsoft.com/office/drawing/2014/main" id="{0C5A9EB1-2407-4BC9-9EC6-5E76700D7FC3}"/>
              </a:ext>
            </a:extLst>
          </p:cNvPr>
          <p:cNvSpPr>
            <a:spLocks xmlns:a="http://schemas.openxmlformats.org/drawingml/2006/main" noGrp="1"/>
          </p:cNvSpPr>
          <p:nvPr/>
        </p:nvSpPr>
        <p:spPr>
          <a:xfrm xmlns:a="http://schemas.openxmlformats.org/drawingml/2006/main">
            <a:off x="495300" y="742950"/>
            <a:ext cx="857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600" b="0" i="0">
                <a:solidFill>
                  <a:srgbClr val="171613"/>
                </a:solidFill>
                <a:latin typeface="Georgia"/>
                <a:ea typeface="Georgia"/>
                <a:cs typeface="Georgia"/>
              </a:defRPr>
            </a:pPr>
            <a:r>
              <a:rPr sz="3600" b="0" i="0">
                <a:solidFill>
                  <a:srgbClr val="171613"/>
                </a:solidFill>
                <a:latin typeface="Georgia"/>
                <a:ea typeface="Georgia"/>
                <a:cs typeface="Georgia"/>
              </a:rPr>
              <a:t>One application connects the client,</a:t>
            </a:r>
          </a:p>
          <a:p xmlns:a="http://schemas.openxmlformats.org/drawingml/2006/main">
            <a:pPr algn="l">
              <a:lnSpc>
                <a:spcPct val="94000"/>
              </a:lnSpc>
              <a:buNone/>
              <a:defRPr sz="3600" b="0" i="0">
                <a:solidFill>
                  <a:srgbClr val="171613"/>
                </a:solidFill>
                <a:latin typeface="Georgia"/>
                <a:ea typeface="Georgia"/>
                <a:cs typeface="Georgia"/>
              </a:defRPr>
            </a:pPr>
            <a:r>
              <a:rPr sz="3600" b="0" i="0">
                <a:solidFill>
                  <a:srgbClr val="171613"/>
                </a:solidFill>
                <a:latin typeface="Georgia"/>
                <a:ea typeface="Georgia"/>
                <a:cs typeface="Georgia"/>
              </a:rPr>
              <a:t>services, data, and cloud.</a:t>
            </a:r>
          </a:p>
        </p:txBody>
      </p:sp>
      <p:sp>
        <p:nvSpPr>
          <p:cNvPr id="6" name="text-e6l2tm">
            <a:extLst xmlns:a="http://schemas.openxmlformats.org/drawingml/2006/main">
              <a:ext uri="{FF2B5EF4-FFF2-40B4-BE49-F238E27FC236}">
                <a16:creationId xmlns:a16="http://schemas.microsoft.com/office/drawing/2014/main" id="{11EB08C9-F9E1-446A-836C-CFABF9D19473}"/>
              </a:ext>
            </a:extLst>
          </p:cNvPr>
          <p:cNvSpPr>
            <a:spLocks xmlns:a="http://schemas.openxmlformats.org/drawingml/2006/main" noGrp="1"/>
          </p:cNvSpPr>
          <p:nvPr/>
        </p:nvSpPr>
        <p:spPr>
          <a:xfrm xmlns:a="http://schemas.openxmlformats.org/drawingml/2006/main">
            <a:off x="533400" y="18669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4D4942"/>
                </a:solidFill>
                <a:latin typeface="Yu Gothic"/>
                <a:ea typeface="Yu Gothic"/>
                <a:cs typeface="Yu Gothic"/>
              </a:defRPr>
            </a:pPr>
            <a:r>
              <a:rPr sz="1350" b="0" i="0">
                <a:solidFill>
                  <a:srgbClr val="4D4942"/>
                </a:solidFill>
                <a:latin typeface="Yu Gothic"/>
                <a:ea typeface="Yu Gothic"/>
                <a:cs typeface="Yu Gothic"/>
              </a:rPr>
              <a:t>The frontend and REST API are delivered by the same Spring Boot container.</a:t>
            </a:r>
          </a:p>
        </p:txBody>
      </p:sp>
      <p:sp>
        <p:nvSpPr>
          <p:cNvPr id="7" name="rule-96-432">
            <a:extLst xmlns:a="http://schemas.openxmlformats.org/drawingml/2006/main">
              <a:ext uri="{FF2B5EF4-FFF2-40B4-BE49-F238E27FC236}">
                <a16:creationId xmlns:a16="http://schemas.microsoft.com/office/drawing/2014/main" id="{D2C92A8D-C019-4351-96D7-756616DEF3F9}"/>
              </a:ext>
            </a:extLst>
          </p:cNvPr>
          <p:cNvSpPr>
            <a:spLocks xmlns:a="http://schemas.openxmlformats.org/drawingml/2006/main" noGrp="1"/>
          </p:cNvSpPr>
          <p:nvPr/>
        </p:nvSpPr>
        <p:spPr>
          <a:xfrm xmlns:a="http://schemas.openxmlformats.org/drawingml/2006/main">
            <a:off x="914400" y="4114800"/>
            <a:ext cx="10077450" cy="19050"/>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8" name="text-dcxyqw">
            <a:extLst xmlns:a="http://schemas.openxmlformats.org/drawingml/2006/main">
              <a:ext uri="{FF2B5EF4-FFF2-40B4-BE49-F238E27FC236}">
                <a16:creationId xmlns:a16="http://schemas.microsoft.com/office/drawing/2014/main" id="{9CC8C6B4-9F54-460E-8860-D1AAA5DCB7CD}"/>
              </a:ext>
            </a:extLst>
          </p:cNvPr>
          <p:cNvSpPr>
            <a:spLocks xmlns:a="http://schemas.openxmlformats.org/drawingml/2006/main" noGrp="1"/>
          </p:cNvSpPr>
          <p:nvPr/>
        </p:nvSpPr>
        <p:spPr>
          <a:xfrm xmlns:a="http://schemas.openxmlformats.org/drawingml/2006/main">
            <a:off x="2876550" y="3848100"/>
            <a:ext cx="438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2250" b="0" i="0">
                <a:solidFill>
                  <a:srgbClr val="D84A32"/>
                </a:solidFill>
                <a:latin typeface="Georgia"/>
                <a:ea typeface="Georgia"/>
                <a:cs typeface="Georgia"/>
              </a:defRPr>
            </a:pPr>
            <a:r>
              <a:rPr sz="2250" b="0" i="0">
                <a:solidFill>
                  <a:srgbClr val="D84A32"/>
                </a:solidFill>
                <a:latin typeface="Georgia"/>
                <a:ea typeface="Georgia"/>
                <a:cs typeface="Georgia"/>
              </a:rPr>
              <a:t>→</a:t>
            </a:r>
          </a:p>
        </p:txBody>
      </p:sp>
      <p:sp>
        <p:nvSpPr>
          <p:cNvPr id="9" name="text-bndx40">
            <a:extLst xmlns:a="http://schemas.openxmlformats.org/drawingml/2006/main">
              <a:ext uri="{FF2B5EF4-FFF2-40B4-BE49-F238E27FC236}">
                <a16:creationId xmlns:a16="http://schemas.microsoft.com/office/drawing/2014/main" id="{E17A38EC-3991-4B72-8948-E5FFD4D8C80E}"/>
              </a:ext>
            </a:extLst>
          </p:cNvPr>
          <p:cNvSpPr>
            <a:spLocks xmlns:a="http://schemas.openxmlformats.org/drawingml/2006/main" noGrp="1"/>
          </p:cNvSpPr>
          <p:nvPr/>
        </p:nvSpPr>
        <p:spPr>
          <a:xfrm xmlns:a="http://schemas.openxmlformats.org/drawingml/2006/main">
            <a:off x="5314950" y="3848100"/>
            <a:ext cx="438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2250" b="0" i="0">
                <a:solidFill>
                  <a:srgbClr val="D84A32"/>
                </a:solidFill>
                <a:latin typeface="Georgia"/>
                <a:ea typeface="Georgia"/>
                <a:cs typeface="Georgia"/>
              </a:defRPr>
            </a:pPr>
            <a:r>
              <a:rPr sz="2250" b="0" i="0">
                <a:solidFill>
                  <a:srgbClr val="D84A32"/>
                </a:solidFill>
                <a:latin typeface="Georgia"/>
                <a:ea typeface="Georgia"/>
                <a:cs typeface="Georgia"/>
              </a:rPr>
              <a:t>→</a:t>
            </a:r>
          </a:p>
        </p:txBody>
      </p:sp>
      <p:sp>
        <p:nvSpPr>
          <p:cNvPr id="10" name="text-t9ta5u">
            <a:extLst xmlns:a="http://schemas.openxmlformats.org/drawingml/2006/main">
              <a:ext uri="{FF2B5EF4-FFF2-40B4-BE49-F238E27FC236}">
                <a16:creationId xmlns:a16="http://schemas.microsoft.com/office/drawing/2014/main" id="{B5E74D72-2C08-49BF-A27B-FA35C6D455F0}"/>
              </a:ext>
            </a:extLst>
          </p:cNvPr>
          <p:cNvSpPr>
            <a:spLocks xmlns:a="http://schemas.openxmlformats.org/drawingml/2006/main" noGrp="1"/>
          </p:cNvSpPr>
          <p:nvPr/>
        </p:nvSpPr>
        <p:spPr>
          <a:xfrm xmlns:a="http://schemas.openxmlformats.org/drawingml/2006/main">
            <a:off x="7867650" y="3848100"/>
            <a:ext cx="438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2250" b="0" i="0">
                <a:solidFill>
                  <a:srgbClr val="D84A32"/>
                </a:solidFill>
                <a:latin typeface="Georgia"/>
                <a:ea typeface="Georgia"/>
                <a:cs typeface="Georgia"/>
              </a:defRPr>
            </a:pPr>
            <a:r>
              <a:rPr sz="2250" b="0" i="0">
                <a:solidFill>
                  <a:srgbClr val="D84A32"/>
                </a:solidFill>
                <a:latin typeface="Georgia"/>
                <a:ea typeface="Georgia"/>
                <a:cs typeface="Georgia"/>
              </a:rPr>
              <a:t>→</a:t>
            </a:r>
          </a:p>
        </p:txBody>
      </p:sp>
      <p:sp>
        <p:nvSpPr>
          <p:cNvPr id="11" name="architecture-01">
            <a:extLst xmlns:a="http://schemas.openxmlformats.org/drawingml/2006/main">
              <a:ext uri="{FF2B5EF4-FFF2-40B4-BE49-F238E27FC236}">
                <a16:creationId xmlns:a16="http://schemas.microsoft.com/office/drawing/2014/main" id="{50D773FC-99AD-4A8B-8144-E89A459058E1}"/>
              </a:ext>
            </a:extLst>
          </p:cNvPr>
          <p:cNvSpPr>
            <a:spLocks xmlns:a="http://schemas.openxmlformats.org/drawingml/2006/main" noGrp="1"/>
          </p:cNvSpPr>
          <p:nvPr/>
        </p:nvSpPr>
        <p:spPr>
          <a:xfrm xmlns:a="http://schemas.openxmlformats.org/drawingml/2006/main">
            <a:off x="704850" y="3333750"/>
            <a:ext cx="2238375" cy="161925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p>
      <p:sp>
        <p:nvSpPr>
          <p:cNvPr id="12" name="text-wtmupo">
            <a:extLst xmlns:a="http://schemas.openxmlformats.org/drawingml/2006/main">
              <a:ext uri="{FF2B5EF4-FFF2-40B4-BE49-F238E27FC236}">
                <a16:creationId xmlns:a16="http://schemas.microsoft.com/office/drawing/2014/main" id="{026877F3-067B-496A-81A7-67A336464642}"/>
              </a:ext>
            </a:extLst>
          </p:cNvPr>
          <p:cNvSpPr>
            <a:spLocks xmlns:a="http://schemas.openxmlformats.org/drawingml/2006/main" noGrp="1"/>
          </p:cNvSpPr>
          <p:nvPr/>
        </p:nvSpPr>
        <p:spPr>
          <a:xfrm xmlns:a="http://schemas.openxmlformats.org/drawingml/2006/main">
            <a:off x="876300" y="3486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D84A32"/>
                </a:solidFill>
                <a:latin typeface="Consolas"/>
                <a:ea typeface="Consolas"/>
                <a:cs typeface="Consolas"/>
              </a:defRPr>
            </a:pPr>
            <a:r>
              <a:rPr sz="750" b="1" i="0">
                <a:solidFill>
                  <a:srgbClr val="D84A32"/>
                </a:solidFill>
                <a:latin typeface="Consolas"/>
                <a:ea typeface="Consolas"/>
                <a:cs typeface="Consolas"/>
              </a:rPr>
              <a:t>01</a:t>
            </a:r>
          </a:p>
        </p:txBody>
      </p:sp>
      <p:sp>
        <p:nvSpPr>
          <p:cNvPr id="13" name="text-mojioj">
            <a:extLst xmlns:a="http://schemas.openxmlformats.org/drawingml/2006/main">
              <a:ext uri="{FF2B5EF4-FFF2-40B4-BE49-F238E27FC236}">
                <a16:creationId xmlns:a16="http://schemas.microsoft.com/office/drawing/2014/main" id="{696FC179-94D9-46A2-8538-4453800643A0}"/>
              </a:ext>
            </a:extLst>
          </p:cNvPr>
          <p:cNvSpPr>
            <a:spLocks xmlns:a="http://schemas.openxmlformats.org/drawingml/2006/main" noGrp="1"/>
          </p:cNvSpPr>
          <p:nvPr/>
        </p:nvSpPr>
        <p:spPr>
          <a:xfrm xmlns:a="http://schemas.openxmlformats.org/drawingml/2006/main">
            <a:off x="876300" y="3867150"/>
            <a:ext cx="18954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71613"/>
                </a:solidFill>
                <a:latin typeface="Yu Gothic"/>
                <a:ea typeface="Yu Gothic"/>
                <a:cs typeface="Yu Gothic"/>
              </a:defRPr>
            </a:pPr>
            <a:r>
              <a:rPr sz="1500" b="1" i="0">
                <a:solidFill>
                  <a:srgbClr val="171613"/>
                </a:solidFill>
                <a:latin typeface="Yu Gothic"/>
                <a:ea typeface="Yu Gothic"/>
                <a:cs typeface="Yu Gothic"/>
              </a:rPr>
              <a:t>Browser client</a:t>
            </a:r>
          </a:p>
        </p:txBody>
      </p:sp>
      <p:sp>
        <p:nvSpPr>
          <p:cNvPr id="14" name="text-9gchaw">
            <a:extLst xmlns:a="http://schemas.openxmlformats.org/drawingml/2006/main">
              <a:ext uri="{FF2B5EF4-FFF2-40B4-BE49-F238E27FC236}">
                <a16:creationId xmlns:a16="http://schemas.microsoft.com/office/drawing/2014/main" id="{104C20BC-050E-40FD-B86A-07CAA49BF728}"/>
              </a:ext>
            </a:extLst>
          </p:cNvPr>
          <p:cNvSpPr>
            <a:spLocks xmlns:a="http://schemas.openxmlformats.org/drawingml/2006/main" noGrp="1"/>
          </p:cNvSpPr>
          <p:nvPr/>
        </p:nvSpPr>
        <p:spPr>
          <a:xfrm xmlns:a="http://schemas.openxmlformats.org/drawingml/2006/main">
            <a:off x="876300" y="4324350"/>
            <a:ext cx="1895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050" b="0" i="0">
                <a:solidFill>
                  <a:srgbClr val="4D4942"/>
                </a:solidFill>
                <a:latin typeface="Yu Gothic"/>
                <a:ea typeface="Yu Gothic"/>
                <a:cs typeface="Yu Gothic"/>
              </a:defRPr>
            </a:pPr>
            <a:r>
              <a:rPr sz="1050" b="0" i="0">
                <a:solidFill>
                  <a:srgbClr val="4D4942"/>
                </a:solidFill>
                <a:latin typeface="Yu Gothic"/>
                <a:ea typeface="Yu Gothic"/>
                <a:cs typeface="Yu Gothic"/>
              </a:rPr>
              <a:t>Today · Portfolio · Account</a:t>
            </a:r>
          </a:p>
        </p:txBody>
      </p:sp>
      <p:sp>
        <p:nvSpPr>
          <p:cNvPr id="15" name="architecture-02">
            <a:extLst xmlns:a="http://schemas.openxmlformats.org/drawingml/2006/main">
              <a:ext uri="{FF2B5EF4-FFF2-40B4-BE49-F238E27FC236}">
                <a16:creationId xmlns:a16="http://schemas.microsoft.com/office/drawing/2014/main" id="{6BE679DD-FD28-4B6A-A22E-2A2BBBFB8BDD}"/>
              </a:ext>
            </a:extLst>
          </p:cNvPr>
          <p:cNvSpPr>
            <a:spLocks xmlns:a="http://schemas.openxmlformats.org/drawingml/2006/main" noGrp="1"/>
          </p:cNvSpPr>
          <p:nvPr/>
        </p:nvSpPr>
        <p:spPr>
          <a:xfrm xmlns:a="http://schemas.openxmlformats.org/drawingml/2006/main">
            <a:off x="3190875" y="3333750"/>
            <a:ext cx="2238375" cy="161925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p>
      <p:sp>
        <p:nvSpPr>
          <p:cNvPr id="16" name="text-d5m3uf">
            <a:extLst xmlns:a="http://schemas.openxmlformats.org/drawingml/2006/main">
              <a:ext uri="{FF2B5EF4-FFF2-40B4-BE49-F238E27FC236}">
                <a16:creationId xmlns:a16="http://schemas.microsoft.com/office/drawing/2014/main" id="{51F5D7D5-2CFF-47A0-8990-FF9948A3E90D}"/>
              </a:ext>
            </a:extLst>
          </p:cNvPr>
          <p:cNvSpPr>
            <a:spLocks xmlns:a="http://schemas.openxmlformats.org/drawingml/2006/main" noGrp="1"/>
          </p:cNvSpPr>
          <p:nvPr/>
        </p:nvSpPr>
        <p:spPr>
          <a:xfrm xmlns:a="http://schemas.openxmlformats.org/drawingml/2006/main">
            <a:off x="3362325" y="3486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D84A32"/>
                </a:solidFill>
                <a:latin typeface="Consolas"/>
                <a:ea typeface="Consolas"/>
                <a:cs typeface="Consolas"/>
              </a:defRPr>
            </a:pPr>
            <a:r>
              <a:rPr sz="750" b="1" i="0">
                <a:solidFill>
                  <a:srgbClr val="D84A32"/>
                </a:solidFill>
                <a:latin typeface="Consolas"/>
                <a:ea typeface="Consolas"/>
                <a:cs typeface="Consolas"/>
              </a:rPr>
              <a:t>02</a:t>
            </a:r>
          </a:p>
        </p:txBody>
      </p:sp>
      <p:sp>
        <p:nvSpPr>
          <p:cNvPr id="17" name="text-99wzkh">
            <a:extLst xmlns:a="http://schemas.openxmlformats.org/drawingml/2006/main">
              <a:ext uri="{FF2B5EF4-FFF2-40B4-BE49-F238E27FC236}">
                <a16:creationId xmlns:a16="http://schemas.microsoft.com/office/drawing/2014/main" id="{DE196D07-55A4-4A6A-9D22-FE298D54F1ED}"/>
              </a:ext>
            </a:extLst>
          </p:cNvPr>
          <p:cNvSpPr>
            <a:spLocks xmlns:a="http://schemas.openxmlformats.org/drawingml/2006/main" noGrp="1"/>
          </p:cNvSpPr>
          <p:nvPr/>
        </p:nvSpPr>
        <p:spPr>
          <a:xfrm xmlns:a="http://schemas.openxmlformats.org/drawingml/2006/main">
            <a:off x="3362325" y="3867150"/>
            <a:ext cx="18954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71613"/>
                </a:solidFill>
                <a:latin typeface="Yu Gothic"/>
                <a:ea typeface="Yu Gothic"/>
                <a:cs typeface="Yu Gothic"/>
              </a:defRPr>
            </a:pPr>
            <a:r>
              <a:rPr sz="1500" b="1" i="0">
                <a:solidFill>
                  <a:srgbClr val="171613"/>
                </a:solidFill>
                <a:latin typeface="Yu Gothic"/>
                <a:ea typeface="Yu Gothic"/>
                <a:cs typeface="Yu Gothic"/>
              </a:rPr>
              <a:t>Spring Boot</a:t>
            </a:r>
          </a:p>
        </p:txBody>
      </p:sp>
      <p:sp>
        <p:nvSpPr>
          <p:cNvPr id="18" name="text-lkbc2c">
            <a:extLst xmlns:a="http://schemas.openxmlformats.org/drawingml/2006/main">
              <a:ext uri="{FF2B5EF4-FFF2-40B4-BE49-F238E27FC236}">
                <a16:creationId xmlns:a16="http://schemas.microsoft.com/office/drawing/2014/main" id="{F0AA223D-EAB7-4689-AFAD-FAF486DACA04}"/>
              </a:ext>
            </a:extLst>
          </p:cNvPr>
          <p:cNvSpPr>
            <a:spLocks xmlns:a="http://schemas.openxmlformats.org/drawingml/2006/main" noGrp="1"/>
          </p:cNvSpPr>
          <p:nvPr/>
        </p:nvSpPr>
        <p:spPr>
          <a:xfrm xmlns:a="http://schemas.openxmlformats.org/drawingml/2006/main">
            <a:off x="3362325" y="4324350"/>
            <a:ext cx="1895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050" b="0" i="0">
                <a:solidFill>
                  <a:srgbClr val="4D4942"/>
                </a:solidFill>
                <a:latin typeface="Yu Gothic"/>
                <a:ea typeface="Yu Gothic"/>
                <a:cs typeface="Yu Gothic"/>
              </a:defRPr>
            </a:pPr>
            <a:r>
              <a:rPr sz="1050" b="0" i="0">
                <a:solidFill>
                  <a:srgbClr val="4D4942"/>
                </a:solidFill>
                <a:latin typeface="Yu Gothic"/>
                <a:ea typeface="Yu Gothic"/>
                <a:cs typeface="Yu Gothic"/>
              </a:rPr>
              <a:t>REST controllers · services</a:t>
            </a:r>
          </a:p>
        </p:txBody>
      </p:sp>
      <p:sp>
        <p:nvSpPr>
          <p:cNvPr id="19" name="architecture-03">
            <a:extLst xmlns:a="http://schemas.openxmlformats.org/drawingml/2006/main">
              <a:ext uri="{FF2B5EF4-FFF2-40B4-BE49-F238E27FC236}">
                <a16:creationId xmlns:a16="http://schemas.microsoft.com/office/drawing/2014/main" id="{60AF3BAD-2599-44E3-8DC7-FA80F99C2F35}"/>
              </a:ext>
            </a:extLst>
          </p:cNvPr>
          <p:cNvSpPr>
            <a:spLocks xmlns:a="http://schemas.openxmlformats.org/drawingml/2006/main" noGrp="1"/>
          </p:cNvSpPr>
          <p:nvPr/>
        </p:nvSpPr>
        <p:spPr>
          <a:xfrm xmlns:a="http://schemas.openxmlformats.org/drawingml/2006/main">
            <a:off x="5676900" y="3333750"/>
            <a:ext cx="2238375" cy="161925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p>
      <p:sp>
        <p:nvSpPr>
          <p:cNvPr id="20" name="text-d8adb4">
            <a:extLst xmlns:a="http://schemas.openxmlformats.org/drawingml/2006/main">
              <a:ext uri="{FF2B5EF4-FFF2-40B4-BE49-F238E27FC236}">
                <a16:creationId xmlns:a16="http://schemas.microsoft.com/office/drawing/2014/main" id="{E4463EBF-EBCF-40E3-A748-8111C6FFB7AB}"/>
              </a:ext>
            </a:extLst>
          </p:cNvPr>
          <p:cNvSpPr>
            <a:spLocks xmlns:a="http://schemas.openxmlformats.org/drawingml/2006/main" noGrp="1"/>
          </p:cNvSpPr>
          <p:nvPr/>
        </p:nvSpPr>
        <p:spPr>
          <a:xfrm xmlns:a="http://schemas.openxmlformats.org/drawingml/2006/main">
            <a:off x="5848350" y="3486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D84A32"/>
                </a:solidFill>
                <a:latin typeface="Consolas"/>
                <a:ea typeface="Consolas"/>
                <a:cs typeface="Consolas"/>
              </a:defRPr>
            </a:pPr>
            <a:r>
              <a:rPr sz="750" b="1" i="0">
                <a:solidFill>
                  <a:srgbClr val="D84A32"/>
                </a:solidFill>
                <a:latin typeface="Consolas"/>
                <a:ea typeface="Consolas"/>
                <a:cs typeface="Consolas"/>
              </a:rPr>
              <a:t>03</a:t>
            </a:r>
          </a:p>
        </p:txBody>
      </p:sp>
      <p:sp>
        <p:nvSpPr>
          <p:cNvPr id="21" name="text-xblm4g">
            <a:extLst xmlns:a="http://schemas.openxmlformats.org/drawingml/2006/main">
              <a:ext uri="{FF2B5EF4-FFF2-40B4-BE49-F238E27FC236}">
                <a16:creationId xmlns:a16="http://schemas.microsoft.com/office/drawing/2014/main" id="{35B44D7C-F848-4260-A4D3-F2B6CE6C19E8}"/>
              </a:ext>
            </a:extLst>
          </p:cNvPr>
          <p:cNvSpPr>
            <a:spLocks xmlns:a="http://schemas.openxmlformats.org/drawingml/2006/main" noGrp="1"/>
          </p:cNvSpPr>
          <p:nvPr/>
        </p:nvSpPr>
        <p:spPr>
          <a:xfrm xmlns:a="http://schemas.openxmlformats.org/drawingml/2006/main">
            <a:off x="5848350" y="3867150"/>
            <a:ext cx="18954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71613"/>
                </a:solidFill>
                <a:latin typeface="Yu Gothic"/>
                <a:ea typeface="Yu Gothic"/>
                <a:cs typeface="Yu Gothic"/>
              </a:defRPr>
            </a:pPr>
            <a:r>
              <a:rPr sz="1500" b="1" i="0">
                <a:solidFill>
                  <a:srgbClr val="171613"/>
                </a:solidFill>
                <a:latin typeface="Yu Gothic"/>
                <a:ea typeface="Yu Gothic"/>
                <a:cs typeface="Yu Gothic"/>
              </a:rPr>
              <a:t>Data layer</a:t>
            </a:r>
          </a:p>
        </p:txBody>
      </p:sp>
      <p:sp>
        <p:nvSpPr>
          <p:cNvPr id="22" name="text-g88jy4">
            <a:extLst xmlns:a="http://schemas.openxmlformats.org/drawingml/2006/main">
              <a:ext uri="{FF2B5EF4-FFF2-40B4-BE49-F238E27FC236}">
                <a16:creationId xmlns:a16="http://schemas.microsoft.com/office/drawing/2014/main" id="{37F4E2D3-7E1B-40AB-8897-335208A295FC}"/>
              </a:ext>
            </a:extLst>
          </p:cNvPr>
          <p:cNvSpPr>
            <a:spLocks xmlns:a="http://schemas.openxmlformats.org/drawingml/2006/main" noGrp="1"/>
          </p:cNvSpPr>
          <p:nvPr/>
        </p:nvSpPr>
        <p:spPr>
          <a:xfrm xmlns:a="http://schemas.openxmlformats.org/drawingml/2006/main">
            <a:off x="5848350" y="4324350"/>
            <a:ext cx="1895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050" b="0" i="0">
                <a:solidFill>
                  <a:srgbClr val="4D4942"/>
                </a:solidFill>
                <a:latin typeface="Yu Gothic"/>
                <a:ea typeface="Yu Gothic"/>
                <a:cs typeface="Yu Gothic"/>
              </a:defRPr>
            </a:pPr>
            <a:r>
              <a:rPr sz="1050" b="0" i="0">
                <a:solidFill>
                  <a:srgbClr val="4D4942"/>
                </a:solidFill>
                <a:latin typeface="Yu Gothic"/>
                <a:ea typeface="Yu Gothic"/>
                <a:cs typeface="Yu Gothic"/>
              </a:rPr>
              <a:t>External APIs · MySQL / H2</a:t>
            </a:r>
          </a:p>
        </p:txBody>
      </p:sp>
      <p:sp>
        <p:nvSpPr>
          <p:cNvPr id="23" name="architecture-04">
            <a:extLst xmlns:a="http://schemas.openxmlformats.org/drawingml/2006/main">
              <a:ext uri="{FF2B5EF4-FFF2-40B4-BE49-F238E27FC236}">
                <a16:creationId xmlns:a16="http://schemas.microsoft.com/office/drawing/2014/main" id="{4922E0DA-F48F-4832-8C24-DC5B45019C48}"/>
              </a:ext>
            </a:extLst>
          </p:cNvPr>
          <p:cNvSpPr>
            <a:spLocks xmlns:a="http://schemas.openxmlformats.org/drawingml/2006/main" noGrp="1"/>
          </p:cNvSpPr>
          <p:nvPr/>
        </p:nvSpPr>
        <p:spPr>
          <a:xfrm xmlns:a="http://schemas.openxmlformats.org/drawingml/2006/main">
            <a:off x="8162925" y="3333750"/>
            <a:ext cx="3190875" cy="161925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p>
      <p:sp>
        <p:nvSpPr>
          <p:cNvPr id="24" name="text-4i3mwa">
            <a:extLst xmlns:a="http://schemas.openxmlformats.org/drawingml/2006/main">
              <a:ext uri="{FF2B5EF4-FFF2-40B4-BE49-F238E27FC236}">
                <a16:creationId xmlns:a16="http://schemas.microsoft.com/office/drawing/2014/main" id="{53909419-D260-4BFC-BF1B-EA53D4D709E8}"/>
              </a:ext>
            </a:extLst>
          </p:cNvPr>
          <p:cNvSpPr>
            <a:spLocks xmlns:a="http://schemas.openxmlformats.org/drawingml/2006/main" noGrp="1"/>
          </p:cNvSpPr>
          <p:nvPr/>
        </p:nvSpPr>
        <p:spPr>
          <a:xfrm xmlns:a="http://schemas.openxmlformats.org/drawingml/2006/main">
            <a:off x="8334375" y="3486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D84A32"/>
                </a:solidFill>
                <a:latin typeface="Consolas"/>
                <a:ea typeface="Consolas"/>
                <a:cs typeface="Consolas"/>
              </a:defRPr>
            </a:pPr>
            <a:r>
              <a:rPr sz="750" b="1" i="0">
                <a:solidFill>
                  <a:srgbClr val="D84A32"/>
                </a:solidFill>
                <a:latin typeface="Consolas"/>
                <a:ea typeface="Consolas"/>
                <a:cs typeface="Consolas"/>
              </a:rPr>
              <a:t>04</a:t>
            </a:r>
          </a:p>
        </p:txBody>
      </p:sp>
      <p:sp>
        <p:nvSpPr>
          <p:cNvPr id="25" name="text-m7gqrf">
            <a:extLst xmlns:a="http://schemas.openxmlformats.org/drawingml/2006/main">
              <a:ext uri="{FF2B5EF4-FFF2-40B4-BE49-F238E27FC236}">
                <a16:creationId xmlns:a16="http://schemas.microsoft.com/office/drawing/2014/main" id="{A2094E83-99CB-41DF-A9FD-CB6F5A7E2547}"/>
              </a:ext>
            </a:extLst>
          </p:cNvPr>
          <p:cNvSpPr>
            <a:spLocks xmlns:a="http://schemas.openxmlformats.org/drawingml/2006/main" noGrp="1"/>
          </p:cNvSpPr>
          <p:nvPr/>
        </p:nvSpPr>
        <p:spPr>
          <a:xfrm xmlns:a="http://schemas.openxmlformats.org/drawingml/2006/main">
            <a:off x="8334375" y="3867150"/>
            <a:ext cx="2847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71613"/>
                </a:solidFill>
                <a:latin typeface="Yu Gothic"/>
                <a:ea typeface="Yu Gothic"/>
                <a:cs typeface="Yu Gothic"/>
              </a:defRPr>
            </a:pPr>
            <a:r>
              <a:rPr sz="1500" b="1" i="0">
                <a:solidFill>
                  <a:srgbClr val="171613"/>
                </a:solidFill>
                <a:latin typeface="Yu Gothic"/>
                <a:ea typeface="Yu Gothic"/>
                <a:cs typeface="Yu Gothic"/>
              </a:rPr>
              <a:t>Delivery</a:t>
            </a:r>
          </a:p>
        </p:txBody>
      </p:sp>
      <p:sp>
        <p:nvSpPr>
          <p:cNvPr id="26" name="text-ef6rvt">
            <a:extLst xmlns:a="http://schemas.openxmlformats.org/drawingml/2006/main">
              <a:ext uri="{FF2B5EF4-FFF2-40B4-BE49-F238E27FC236}">
                <a16:creationId xmlns:a16="http://schemas.microsoft.com/office/drawing/2014/main" id="{2E960676-76A4-476C-94EB-CB61DD0F0FA9}"/>
              </a:ext>
            </a:extLst>
          </p:cNvPr>
          <p:cNvSpPr>
            <a:spLocks xmlns:a="http://schemas.openxmlformats.org/drawingml/2006/main" noGrp="1"/>
          </p:cNvSpPr>
          <p:nvPr/>
        </p:nvSpPr>
        <p:spPr>
          <a:xfrm xmlns:a="http://schemas.openxmlformats.org/drawingml/2006/main">
            <a:off x="8334375" y="4324350"/>
            <a:ext cx="2847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050" b="0" i="0">
                <a:solidFill>
                  <a:srgbClr val="4D4942"/>
                </a:solidFill>
                <a:latin typeface="Yu Gothic"/>
                <a:ea typeface="Yu Gothic"/>
                <a:cs typeface="Yu Gothic"/>
              </a:defRPr>
            </a:pPr>
            <a:r>
              <a:rPr sz="1050" b="0" i="0">
                <a:solidFill>
                  <a:srgbClr val="4D4942"/>
                </a:solidFill>
                <a:latin typeface="Yu Gothic"/>
                <a:ea typeface="Yu Gothic"/>
                <a:cs typeface="Yu Gothic"/>
              </a:rPr>
              <a:t>Docker Hub · Azure App Service</a:t>
            </a:r>
          </a:p>
        </p:txBody>
      </p:sp>
      <p:sp>
        <p:nvSpPr>
          <p:cNvPr id="27" name="paper-frame-CampusFlow account page screenshot.png">
            <a:extLst xmlns:a="http://schemas.openxmlformats.org/drawingml/2006/main">
              <a:ext uri="{FF2B5EF4-FFF2-40B4-BE49-F238E27FC236}">
                <a16:creationId xmlns:a16="http://schemas.microsoft.com/office/drawing/2014/main" id="{49483B14-2EC4-445C-92D1-BE285DE23AFC}"/>
              </a:ext>
            </a:extLst>
          </p:cNvPr>
          <p:cNvSpPr>
            <a:spLocks xmlns:a="http://schemas.openxmlformats.org/drawingml/2006/main" noGrp="1"/>
          </p:cNvSpPr>
          <p:nvPr/>
        </p:nvSpPr>
        <p:spPr>
          <a:xfrm xmlns:a="http://schemas.openxmlformats.org/drawingml/2006/main" rot="60000">
            <a:off x="8667750" y="704850"/>
            <a:ext cx="2800350" cy="1971675"/>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9f7834b04c5248ab"/>
          <a:srcRect xmlns:a="http://schemas.openxmlformats.org/drawingml/2006/main" l="5321" t="0" r="5321" b="0"/>
          <a:stretch xmlns:a="http://schemas.openxmlformats.org/drawingml/2006/main">
            <a:fillRect l="0" t="0" r="0" b="0"/>
          </a:stretch>
        </p:blipFill>
        <p:spPr>
          <a:xfrm xmlns:a="http://schemas.openxmlformats.org/drawingml/2006/main" rot="60000">
            <a:off x="8743950" y="781050"/>
            <a:ext cx="2647950" cy="1666875"/>
          </a:xfrm>
          <a:prstGeom xmlns:a="http://schemas.openxmlformats.org/drawingml/2006/main" prst="rect">
            <a:avLst/>
          </a:prstGeom>
        </p:spPr>
      </p:pic>
    </p:spTree>
    <p:extLst>
      <p:ext uri="{BB962C8B-B14F-4D97-AF65-F5344CB8AC3E}">
        <p14:creationId xmlns:p14="http://schemas.microsoft.com/office/powerpoint/2010/main" val="1125146684"/>
      </p:ext>
    </p:extLst>
  </p:cSld>
</p:sld>
</file>

<file path=ppt/slides/slide11.xml><?xml version="1.0" encoding="utf-8"?>
<p:sld xmlns:p="http://schemas.openxmlformats.org/presentationml/2006/main">
  <p:cSld>
    <p:bg>
      <p:bgPr>
        <a:solidFill xmlns:a="http://schemas.openxmlformats.org/drawingml/2006/main">
          <a:srgbClr val="171613"/>
        </a:solidFill>
      </p:bgPr>
    </p:bg>
    <p:spTree>
      <p:nvGrpSpPr>
        <p:cNvPr id="1" name=""/>
        <p:cNvGrpSpPr/>
        <p:nvPr/>
      </p:nvGrpSpPr>
      <p:grpSpPr>
        <a:xfrm xmlns:a="http://schemas.openxmlformats.org/drawingml/2006/main"/>
      </p:grpSpPr>
      <p:sp>
        <p:nvSpPr>
          <p:cNvPr id="22" name="rule-52-42">
            <a:extLst xmlns:a="http://schemas.openxmlformats.org/drawingml/2006/main">
              <a:ext uri="{FF2B5EF4-FFF2-40B4-BE49-F238E27FC236}">
                <a16:creationId xmlns:a16="http://schemas.microsoft.com/office/drawing/2014/main" id="{97EAB790-38B9-4185-AD69-5EA8FF24D73B}"/>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y2v5cg">
            <a:extLst xmlns:a="http://schemas.openxmlformats.org/drawingml/2006/main">
              <a:ext uri="{FF2B5EF4-FFF2-40B4-BE49-F238E27FC236}">
                <a16:creationId xmlns:a16="http://schemas.microsoft.com/office/drawing/2014/main" id="{24DFB5B1-32A5-40A1-BE29-7B00CA7A7DD9}"/>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2EEE6"/>
                </a:solidFill>
                <a:latin typeface="Consolas"/>
                <a:ea typeface="Consolas"/>
                <a:cs typeface="Consolas"/>
              </a:defRPr>
            </a:pPr>
            <a:r>
              <a:rPr sz="900" b="1" i="0">
                <a:solidFill>
                  <a:srgbClr val="F2EEE6"/>
                </a:solidFill>
                <a:latin typeface="Consolas"/>
                <a:ea typeface="Consolas"/>
                <a:cs typeface="Consolas"/>
              </a:rPr>
              <a:t>SECURITY AND AUTHORIZATION</a:t>
            </a:r>
          </a:p>
        </p:txBody>
      </p:sp>
      <p:sp>
        <p:nvSpPr>
          <p:cNvPr id="3" name="rule-52-675">
            <a:extLst xmlns:a="http://schemas.openxmlformats.org/drawingml/2006/main">
              <a:ext uri="{FF2B5EF4-FFF2-40B4-BE49-F238E27FC236}">
                <a16:creationId xmlns:a16="http://schemas.microsoft.com/office/drawing/2014/main" id="{ED051813-6CD6-40A6-B732-9F29611B5874}"/>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B4943"/>
          </a:solidFill>
          <a:ln xmlns:a="http://schemas.openxmlformats.org/drawingml/2006/main" w="0">
            <a:noFill/>
            <a:prstDash val="solid"/>
          </a:ln>
        </p:spPr>
      </p:sp>
      <p:sp>
        <p:nvSpPr>
          <p:cNvPr id="4" name="text-6jvvuy">
            <a:extLst xmlns:a="http://schemas.openxmlformats.org/drawingml/2006/main">
              <a:ext uri="{FF2B5EF4-FFF2-40B4-BE49-F238E27FC236}">
                <a16:creationId xmlns:a16="http://schemas.microsoft.com/office/drawing/2014/main" id="{AD90F182-995E-4C1B-AA45-B91F9DF568BD}"/>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B9B4AA"/>
                </a:solidFill>
                <a:latin typeface="Consolas"/>
                <a:ea typeface="Consolas"/>
                <a:cs typeface="Consolas"/>
              </a:defRPr>
            </a:pPr>
            <a:r>
              <a:rPr sz="750" b="0" i="0">
                <a:solidFill>
                  <a:srgbClr val="B9B4AA"/>
                </a:solidFill>
                <a:latin typeface="Consolas"/>
                <a:ea typeface="Consolas"/>
                <a:cs typeface="Consolas"/>
              </a:rPr>
              <a:t>11</a:t>
            </a:r>
          </a:p>
        </p:txBody>
      </p:sp>
      <p:sp>
        <p:nvSpPr>
          <p:cNvPr id="5" name="text-kzi803">
            <a:extLst xmlns:a="http://schemas.openxmlformats.org/drawingml/2006/main">
              <a:ext uri="{FF2B5EF4-FFF2-40B4-BE49-F238E27FC236}">
                <a16:creationId xmlns:a16="http://schemas.microsoft.com/office/drawing/2014/main" id="{4F89486D-AB24-4740-83FA-659954650E29}"/>
              </a:ext>
            </a:extLst>
          </p:cNvPr>
          <p:cNvSpPr>
            <a:spLocks xmlns:a="http://schemas.openxmlformats.org/drawingml/2006/main" noGrp="1"/>
          </p:cNvSpPr>
          <p:nvPr/>
        </p:nvSpPr>
        <p:spPr>
          <a:xfrm xmlns:a="http://schemas.openxmlformats.org/drawingml/2006/main">
            <a:off x="514350" y="876300"/>
            <a:ext cx="5334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900" b="0" i="0">
                <a:solidFill>
                  <a:srgbClr val="F2EEE6"/>
                </a:solidFill>
                <a:latin typeface="Georgia"/>
                <a:ea typeface="Georgia"/>
                <a:cs typeface="Georgia"/>
              </a:defRPr>
            </a:pPr>
            <a:r>
              <a:rPr sz="3900" b="0" i="0">
                <a:solidFill>
                  <a:srgbClr val="F2EEE6"/>
                </a:solidFill>
                <a:latin typeface="Georgia"/>
                <a:ea typeface="Georgia"/>
                <a:cs typeface="Georgia"/>
              </a:rPr>
              <a:t>Security is enforced</a:t>
            </a:r>
          </a:p>
          <a:p xmlns:a="http://schemas.openxmlformats.org/drawingml/2006/main">
            <a:pPr algn="l">
              <a:lnSpc>
                <a:spcPct val="96000"/>
              </a:lnSpc>
              <a:buNone/>
              <a:defRPr sz="3900" b="0" i="0">
                <a:solidFill>
                  <a:srgbClr val="F2EEE6"/>
                </a:solidFill>
                <a:latin typeface="Georgia"/>
                <a:ea typeface="Georgia"/>
                <a:cs typeface="Georgia"/>
              </a:defRPr>
            </a:pPr>
            <a:r>
              <a:rPr sz="3900" b="0" i="0">
                <a:solidFill>
                  <a:srgbClr val="F2EEE6"/>
                </a:solidFill>
                <a:latin typeface="Georgia"/>
                <a:ea typeface="Georgia"/>
                <a:cs typeface="Georgia"/>
              </a:rPr>
              <a:t>on the server.</a:t>
            </a:r>
          </a:p>
        </p:txBody>
      </p:sp>
      <p:sp>
        <p:nvSpPr>
          <p:cNvPr id="6" name="text-pllvjt">
            <a:extLst xmlns:a="http://schemas.openxmlformats.org/drawingml/2006/main">
              <a:ext uri="{FF2B5EF4-FFF2-40B4-BE49-F238E27FC236}">
                <a16:creationId xmlns:a16="http://schemas.microsoft.com/office/drawing/2014/main" id="{8FEDCF6A-FBDE-4F71-9A7C-5D333217F497}"/>
              </a:ext>
            </a:extLst>
          </p:cNvPr>
          <p:cNvSpPr>
            <a:spLocks xmlns:a="http://schemas.openxmlformats.org/drawingml/2006/main" noGrp="1"/>
          </p:cNvSpPr>
          <p:nvPr/>
        </p:nvSpPr>
        <p:spPr>
          <a:xfrm xmlns:a="http://schemas.openxmlformats.org/drawingml/2006/main">
            <a:off x="552450" y="23050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BDB8AF"/>
                </a:solidFill>
                <a:latin typeface="Yu Gothic"/>
                <a:ea typeface="Yu Gothic"/>
                <a:cs typeface="Yu Gothic"/>
              </a:defRPr>
            </a:pPr>
            <a:r>
              <a:rPr sz="1500" b="0" i="0">
                <a:solidFill>
                  <a:srgbClr val="BDB8AF"/>
                </a:solidFill>
                <a:latin typeface="Yu Gothic"/>
                <a:ea typeface="Yu Gothic"/>
                <a:cs typeface="Yu Gothic"/>
              </a:rPr>
              <a:t>A polished interface is not a security boundary.</a:t>
            </a:r>
          </a:p>
        </p:txBody>
      </p:sp>
      <p:sp>
        <p:nvSpPr>
          <p:cNvPr id="7" name="rule-58-368">
            <a:extLst xmlns:a="http://schemas.openxmlformats.org/drawingml/2006/main">
              <a:ext uri="{FF2B5EF4-FFF2-40B4-BE49-F238E27FC236}">
                <a16:creationId xmlns:a16="http://schemas.microsoft.com/office/drawing/2014/main" id="{D991B239-3DBE-4E43-BEA9-4A445D27438F}"/>
              </a:ext>
            </a:extLst>
          </p:cNvPr>
          <p:cNvSpPr>
            <a:spLocks xmlns:a="http://schemas.openxmlformats.org/drawingml/2006/main" noGrp="1"/>
          </p:cNvSpPr>
          <p:nvPr/>
        </p:nvSpPr>
        <p:spPr>
          <a:xfrm xmlns:a="http://schemas.openxmlformats.org/drawingml/2006/main">
            <a:off x="552450" y="3505200"/>
            <a:ext cx="10763250" cy="9525"/>
          </a:xfrm>
          <a:prstGeom xmlns:a="http://schemas.openxmlformats.org/drawingml/2006/main" prst="rect">
            <a:avLst/>
          </a:prstGeom>
          <a:solidFill xmlns:a="http://schemas.openxmlformats.org/drawingml/2006/main">
            <a:srgbClr val="4A4842"/>
          </a:solidFill>
          <a:ln xmlns:a="http://schemas.openxmlformats.org/drawingml/2006/main" w="0">
            <a:noFill/>
            <a:prstDash val="solid"/>
          </a:ln>
        </p:spPr>
      </p:sp>
      <p:sp>
        <p:nvSpPr>
          <p:cNvPr id="8" name="text-vok0xo">
            <a:extLst xmlns:a="http://schemas.openxmlformats.org/drawingml/2006/main">
              <a:ext uri="{FF2B5EF4-FFF2-40B4-BE49-F238E27FC236}">
                <a16:creationId xmlns:a16="http://schemas.microsoft.com/office/drawing/2014/main" id="{4CC6EAC2-61DA-4D80-9013-9FD038A6DC73}"/>
              </a:ext>
            </a:extLst>
          </p:cNvPr>
          <p:cNvSpPr>
            <a:spLocks xmlns:a="http://schemas.openxmlformats.org/drawingml/2006/main" noGrp="1"/>
          </p:cNvSpPr>
          <p:nvPr/>
        </p:nvSpPr>
        <p:spPr>
          <a:xfrm xmlns:a="http://schemas.openxmlformats.org/drawingml/2006/main">
            <a:off x="552450" y="31432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D84A32"/>
                </a:solidFill>
                <a:latin typeface="Georgia"/>
                <a:ea typeface="Georgia"/>
                <a:cs typeface="Georgia"/>
              </a:defRPr>
            </a:pPr>
            <a:r>
              <a:rPr sz="1650" b="1" i="0">
                <a:solidFill>
                  <a:srgbClr val="D84A32"/>
                </a:solidFill>
                <a:latin typeface="Georgia"/>
                <a:ea typeface="Georgia"/>
                <a:cs typeface="Georgia"/>
              </a:rPr>
              <a:t>BCrypt</a:t>
            </a:r>
          </a:p>
        </p:txBody>
      </p:sp>
      <p:sp>
        <p:nvSpPr>
          <p:cNvPr id="9" name="text-m5hb24">
            <a:extLst xmlns:a="http://schemas.openxmlformats.org/drawingml/2006/main">
              <a:ext uri="{FF2B5EF4-FFF2-40B4-BE49-F238E27FC236}">
                <a16:creationId xmlns:a16="http://schemas.microsoft.com/office/drawing/2014/main" id="{AB2DD413-9915-4607-849F-E693F24720B6}"/>
              </a:ext>
            </a:extLst>
          </p:cNvPr>
          <p:cNvSpPr>
            <a:spLocks xmlns:a="http://schemas.openxmlformats.org/drawingml/2006/main" noGrp="1"/>
          </p:cNvSpPr>
          <p:nvPr/>
        </p:nvSpPr>
        <p:spPr>
          <a:xfrm xmlns:a="http://schemas.openxmlformats.org/drawingml/2006/main">
            <a:off x="3238500" y="316230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C3BEB5"/>
                </a:solidFill>
                <a:latin typeface="Yu Gothic"/>
                <a:ea typeface="Yu Gothic"/>
                <a:cs typeface="Yu Gothic"/>
              </a:defRPr>
            </a:pPr>
            <a:r>
              <a:rPr sz="1275" b="0" i="0">
                <a:solidFill>
                  <a:srgbClr val="C3BEB5"/>
                </a:solidFill>
                <a:latin typeface="Yu Gothic"/>
                <a:ea typeface="Yu Gothic"/>
                <a:cs typeface="Yu Gothic"/>
              </a:rPr>
              <a:t>Local passwords are stored as hashes.</a:t>
            </a:r>
          </a:p>
        </p:txBody>
      </p:sp>
      <p:sp>
        <p:nvSpPr>
          <p:cNvPr id="10" name="rule-58-426">
            <a:extLst xmlns:a="http://schemas.openxmlformats.org/drawingml/2006/main">
              <a:ext uri="{FF2B5EF4-FFF2-40B4-BE49-F238E27FC236}">
                <a16:creationId xmlns:a16="http://schemas.microsoft.com/office/drawing/2014/main" id="{7B30F342-7F87-4261-B4D0-5F0203A3E42E}"/>
              </a:ext>
            </a:extLst>
          </p:cNvPr>
          <p:cNvSpPr>
            <a:spLocks xmlns:a="http://schemas.openxmlformats.org/drawingml/2006/main" noGrp="1"/>
          </p:cNvSpPr>
          <p:nvPr/>
        </p:nvSpPr>
        <p:spPr>
          <a:xfrm xmlns:a="http://schemas.openxmlformats.org/drawingml/2006/main">
            <a:off x="552450" y="4057650"/>
            <a:ext cx="10763250" cy="9525"/>
          </a:xfrm>
          <a:prstGeom xmlns:a="http://schemas.openxmlformats.org/drawingml/2006/main" prst="rect">
            <a:avLst/>
          </a:prstGeom>
          <a:solidFill xmlns:a="http://schemas.openxmlformats.org/drawingml/2006/main">
            <a:srgbClr val="4A4842"/>
          </a:solidFill>
          <a:ln xmlns:a="http://schemas.openxmlformats.org/drawingml/2006/main" w="0">
            <a:noFill/>
            <a:prstDash val="solid"/>
          </a:ln>
        </p:spPr>
      </p:sp>
      <p:sp>
        <p:nvSpPr>
          <p:cNvPr id="11" name="text-23004a">
            <a:extLst xmlns:a="http://schemas.openxmlformats.org/drawingml/2006/main">
              <a:ext uri="{FF2B5EF4-FFF2-40B4-BE49-F238E27FC236}">
                <a16:creationId xmlns:a16="http://schemas.microsoft.com/office/drawing/2014/main" id="{A79D474E-8A9E-42A7-ADEA-46BD5C07F489}"/>
              </a:ext>
            </a:extLst>
          </p:cNvPr>
          <p:cNvSpPr>
            <a:spLocks xmlns:a="http://schemas.openxmlformats.org/drawingml/2006/main" noGrp="1"/>
          </p:cNvSpPr>
          <p:nvPr/>
        </p:nvSpPr>
        <p:spPr>
          <a:xfrm xmlns:a="http://schemas.openxmlformats.org/drawingml/2006/main">
            <a:off x="552450" y="36957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2EEE6"/>
                </a:solidFill>
                <a:latin typeface="Yu Gothic"/>
                <a:ea typeface="Yu Gothic"/>
                <a:cs typeface="Yu Gothic"/>
              </a:defRPr>
            </a:pPr>
            <a:r>
              <a:rPr sz="1650" b="1" i="0">
                <a:solidFill>
                  <a:srgbClr val="F2EEE6"/>
                </a:solidFill>
                <a:latin typeface="Yu Gothic"/>
                <a:ea typeface="Yu Gothic"/>
                <a:cs typeface="Yu Gothic"/>
              </a:rPr>
              <a:t>HttpOnly + Secure</a:t>
            </a:r>
          </a:p>
        </p:txBody>
      </p:sp>
      <p:sp>
        <p:nvSpPr>
          <p:cNvPr id="12" name="text-r71nyp">
            <a:extLst xmlns:a="http://schemas.openxmlformats.org/drawingml/2006/main">
              <a:ext uri="{FF2B5EF4-FFF2-40B4-BE49-F238E27FC236}">
                <a16:creationId xmlns:a16="http://schemas.microsoft.com/office/drawing/2014/main" id="{DD0ADEEE-269E-4484-ACEC-25909C044BB4}"/>
              </a:ext>
            </a:extLst>
          </p:cNvPr>
          <p:cNvSpPr>
            <a:spLocks xmlns:a="http://schemas.openxmlformats.org/drawingml/2006/main" noGrp="1"/>
          </p:cNvSpPr>
          <p:nvPr/>
        </p:nvSpPr>
        <p:spPr>
          <a:xfrm xmlns:a="http://schemas.openxmlformats.org/drawingml/2006/main">
            <a:off x="3238500" y="371475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C3BEB5"/>
                </a:solidFill>
                <a:latin typeface="Yu Gothic"/>
                <a:ea typeface="Yu Gothic"/>
                <a:cs typeface="Yu Gothic"/>
              </a:defRPr>
            </a:pPr>
            <a:r>
              <a:rPr sz="1275" b="0" i="0">
                <a:solidFill>
                  <a:srgbClr val="C3BEB5"/>
                </a:solidFill>
                <a:latin typeface="Yu Gothic"/>
                <a:ea typeface="Yu Gothic"/>
                <a:cs typeface="Yu Gothic"/>
              </a:rPr>
              <a:t>The session cookie is inaccessible to browser scripts.</a:t>
            </a:r>
          </a:p>
        </p:txBody>
      </p:sp>
      <p:sp>
        <p:nvSpPr>
          <p:cNvPr id="13" name="rule-58-484">
            <a:extLst xmlns:a="http://schemas.openxmlformats.org/drawingml/2006/main">
              <a:ext uri="{FF2B5EF4-FFF2-40B4-BE49-F238E27FC236}">
                <a16:creationId xmlns:a16="http://schemas.microsoft.com/office/drawing/2014/main" id="{0D07ACE8-63D0-499F-8865-7A9844C9F516}"/>
              </a:ext>
            </a:extLst>
          </p:cNvPr>
          <p:cNvSpPr>
            <a:spLocks xmlns:a="http://schemas.openxmlformats.org/drawingml/2006/main" noGrp="1"/>
          </p:cNvSpPr>
          <p:nvPr/>
        </p:nvSpPr>
        <p:spPr>
          <a:xfrm xmlns:a="http://schemas.openxmlformats.org/drawingml/2006/main">
            <a:off x="552450" y="4610100"/>
            <a:ext cx="10763250" cy="9525"/>
          </a:xfrm>
          <a:prstGeom xmlns:a="http://schemas.openxmlformats.org/drawingml/2006/main" prst="rect">
            <a:avLst/>
          </a:prstGeom>
          <a:solidFill xmlns:a="http://schemas.openxmlformats.org/drawingml/2006/main">
            <a:srgbClr val="4A4842"/>
          </a:solidFill>
          <a:ln xmlns:a="http://schemas.openxmlformats.org/drawingml/2006/main" w="0">
            <a:noFill/>
            <a:prstDash val="solid"/>
          </a:ln>
        </p:spPr>
      </p:sp>
      <p:sp>
        <p:nvSpPr>
          <p:cNvPr id="14" name="text-8qa6s9">
            <a:extLst xmlns:a="http://schemas.openxmlformats.org/drawingml/2006/main">
              <a:ext uri="{FF2B5EF4-FFF2-40B4-BE49-F238E27FC236}">
                <a16:creationId xmlns:a16="http://schemas.microsoft.com/office/drawing/2014/main" id="{262750E5-735E-40F4-AD09-B889EE4D5964}"/>
              </a:ext>
            </a:extLst>
          </p:cNvPr>
          <p:cNvSpPr>
            <a:spLocks xmlns:a="http://schemas.openxmlformats.org/drawingml/2006/main" noGrp="1"/>
          </p:cNvSpPr>
          <p:nvPr/>
        </p:nvSpPr>
        <p:spPr>
          <a:xfrm xmlns:a="http://schemas.openxmlformats.org/drawingml/2006/main">
            <a:off x="552450" y="42481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2EEE6"/>
                </a:solidFill>
                <a:latin typeface="Yu Gothic"/>
                <a:ea typeface="Yu Gothic"/>
                <a:cs typeface="Yu Gothic"/>
              </a:defRPr>
            </a:pPr>
            <a:r>
              <a:rPr sz="1650" b="1" i="0">
                <a:solidFill>
                  <a:srgbClr val="F2EEE6"/>
                </a:solidFill>
                <a:latin typeface="Yu Gothic"/>
                <a:ea typeface="Yu Gothic"/>
                <a:cs typeface="Yu Gothic"/>
              </a:rPr>
              <a:t>CSRF</a:t>
            </a:r>
          </a:p>
        </p:txBody>
      </p:sp>
      <p:sp>
        <p:nvSpPr>
          <p:cNvPr id="15" name="text-mh2wqc">
            <a:extLst xmlns:a="http://schemas.openxmlformats.org/drawingml/2006/main">
              <a:ext uri="{FF2B5EF4-FFF2-40B4-BE49-F238E27FC236}">
                <a16:creationId xmlns:a16="http://schemas.microsoft.com/office/drawing/2014/main" id="{641CA83C-8B85-4356-9489-DEA02C92B1ED}"/>
              </a:ext>
            </a:extLst>
          </p:cNvPr>
          <p:cNvSpPr>
            <a:spLocks xmlns:a="http://schemas.openxmlformats.org/drawingml/2006/main" noGrp="1"/>
          </p:cNvSpPr>
          <p:nvPr/>
        </p:nvSpPr>
        <p:spPr>
          <a:xfrm xmlns:a="http://schemas.openxmlformats.org/drawingml/2006/main">
            <a:off x="3238500" y="426720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C3BEB5"/>
                </a:solidFill>
                <a:latin typeface="Yu Gothic"/>
                <a:ea typeface="Yu Gothic"/>
                <a:cs typeface="Yu Gothic"/>
              </a:defRPr>
            </a:pPr>
            <a:r>
              <a:rPr sz="1275" b="0" i="0">
                <a:solidFill>
                  <a:srgbClr val="C3BEB5"/>
                </a:solidFill>
                <a:latin typeface="Yu Gothic"/>
                <a:ea typeface="Yu Gothic"/>
                <a:cs typeface="Yu Gothic"/>
              </a:rPr>
              <a:t>State-changing requests require a matching token.</a:t>
            </a:r>
          </a:p>
        </p:txBody>
      </p:sp>
      <p:sp>
        <p:nvSpPr>
          <p:cNvPr id="16" name="rule-58-542">
            <a:extLst xmlns:a="http://schemas.openxmlformats.org/drawingml/2006/main">
              <a:ext uri="{FF2B5EF4-FFF2-40B4-BE49-F238E27FC236}">
                <a16:creationId xmlns:a16="http://schemas.microsoft.com/office/drawing/2014/main" id="{7565B7FF-A517-47A4-83EC-9E61CC66D66B}"/>
              </a:ext>
            </a:extLst>
          </p:cNvPr>
          <p:cNvSpPr>
            <a:spLocks xmlns:a="http://schemas.openxmlformats.org/drawingml/2006/main" noGrp="1"/>
          </p:cNvSpPr>
          <p:nvPr/>
        </p:nvSpPr>
        <p:spPr>
          <a:xfrm xmlns:a="http://schemas.openxmlformats.org/drawingml/2006/main">
            <a:off x="552450" y="5162550"/>
            <a:ext cx="10763250" cy="9525"/>
          </a:xfrm>
          <a:prstGeom xmlns:a="http://schemas.openxmlformats.org/drawingml/2006/main" prst="rect">
            <a:avLst/>
          </a:prstGeom>
          <a:solidFill xmlns:a="http://schemas.openxmlformats.org/drawingml/2006/main">
            <a:srgbClr val="4A4842"/>
          </a:solidFill>
          <a:ln xmlns:a="http://schemas.openxmlformats.org/drawingml/2006/main" w="0">
            <a:noFill/>
            <a:prstDash val="solid"/>
          </a:ln>
        </p:spPr>
      </p:sp>
      <p:sp>
        <p:nvSpPr>
          <p:cNvPr id="17" name="text-sngpei">
            <a:extLst xmlns:a="http://schemas.openxmlformats.org/drawingml/2006/main">
              <a:ext uri="{FF2B5EF4-FFF2-40B4-BE49-F238E27FC236}">
                <a16:creationId xmlns:a16="http://schemas.microsoft.com/office/drawing/2014/main" id="{A95D6D78-C2A7-44E5-B219-96918EE17453}"/>
              </a:ext>
            </a:extLst>
          </p:cNvPr>
          <p:cNvSpPr>
            <a:spLocks xmlns:a="http://schemas.openxmlformats.org/drawingml/2006/main" noGrp="1"/>
          </p:cNvSpPr>
          <p:nvPr/>
        </p:nvSpPr>
        <p:spPr>
          <a:xfrm xmlns:a="http://schemas.openxmlformats.org/drawingml/2006/main">
            <a:off x="552450" y="48006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2EEE6"/>
                </a:solidFill>
                <a:latin typeface="Yu Gothic"/>
                <a:ea typeface="Yu Gothic"/>
                <a:cs typeface="Yu Gothic"/>
              </a:defRPr>
            </a:pPr>
            <a:r>
              <a:rPr sz="1650" b="1" i="0">
                <a:solidFill>
                  <a:srgbClr val="F2EEE6"/>
                </a:solidFill>
                <a:latin typeface="Yu Gothic"/>
                <a:ea typeface="Yu Gothic"/>
                <a:cs typeface="Yu Gothic"/>
              </a:rPr>
              <a:t>Roles</a:t>
            </a:r>
          </a:p>
        </p:txBody>
      </p:sp>
      <p:sp>
        <p:nvSpPr>
          <p:cNvPr id="18" name="text-b0s1sx">
            <a:extLst xmlns:a="http://schemas.openxmlformats.org/drawingml/2006/main">
              <a:ext uri="{FF2B5EF4-FFF2-40B4-BE49-F238E27FC236}">
                <a16:creationId xmlns:a16="http://schemas.microsoft.com/office/drawing/2014/main" id="{DA2577BE-BB09-4D32-9BFB-2F1814551D69}"/>
              </a:ext>
            </a:extLst>
          </p:cNvPr>
          <p:cNvSpPr>
            <a:spLocks xmlns:a="http://schemas.openxmlformats.org/drawingml/2006/main" noGrp="1"/>
          </p:cNvSpPr>
          <p:nvPr/>
        </p:nvSpPr>
        <p:spPr>
          <a:xfrm xmlns:a="http://schemas.openxmlformats.org/drawingml/2006/main">
            <a:off x="3238500" y="481965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C3BEB5"/>
                </a:solidFill>
                <a:latin typeface="Yu Gothic"/>
                <a:ea typeface="Yu Gothic"/>
                <a:cs typeface="Yu Gothic"/>
              </a:defRPr>
            </a:pPr>
            <a:r>
              <a:rPr sz="1275" b="0" i="0">
                <a:solidFill>
                  <a:srgbClr val="C3BEB5"/>
                </a:solidFill>
                <a:latin typeface="Yu Gothic"/>
                <a:ea typeface="Yu Gothic"/>
                <a:cs typeface="Yu Gothic"/>
              </a:rPr>
              <a:t>Public registration cannot create an administrator.</a:t>
            </a:r>
          </a:p>
        </p:txBody>
      </p:sp>
      <p:sp>
        <p:nvSpPr>
          <p:cNvPr id="19" name="rule-58-600">
            <a:extLst xmlns:a="http://schemas.openxmlformats.org/drawingml/2006/main">
              <a:ext uri="{FF2B5EF4-FFF2-40B4-BE49-F238E27FC236}">
                <a16:creationId xmlns:a16="http://schemas.microsoft.com/office/drawing/2014/main" id="{1334254E-CA6C-4A06-BFDC-B208992ED050}"/>
              </a:ext>
            </a:extLst>
          </p:cNvPr>
          <p:cNvSpPr>
            <a:spLocks xmlns:a="http://schemas.openxmlformats.org/drawingml/2006/main" noGrp="1"/>
          </p:cNvSpPr>
          <p:nvPr/>
        </p:nvSpPr>
        <p:spPr>
          <a:xfrm xmlns:a="http://schemas.openxmlformats.org/drawingml/2006/main">
            <a:off x="552450" y="5715000"/>
            <a:ext cx="10763250" cy="9525"/>
          </a:xfrm>
          <a:prstGeom xmlns:a="http://schemas.openxmlformats.org/drawingml/2006/main" prst="rect">
            <a:avLst/>
          </a:prstGeom>
          <a:solidFill xmlns:a="http://schemas.openxmlformats.org/drawingml/2006/main">
            <a:srgbClr val="4A4842"/>
          </a:solidFill>
          <a:ln xmlns:a="http://schemas.openxmlformats.org/drawingml/2006/main" w="0">
            <a:noFill/>
            <a:prstDash val="solid"/>
          </a:ln>
        </p:spPr>
      </p:sp>
      <p:sp>
        <p:nvSpPr>
          <p:cNvPr id="20" name="text-4skgz9">
            <a:extLst xmlns:a="http://schemas.openxmlformats.org/drawingml/2006/main">
              <a:ext uri="{FF2B5EF4-FFF2-40B4-BE49-F238E27FC236}">
                <a16:creationId xmlns:a16="http://schemas.microsoft.com/office/drawing/2014/main" id="{57739477-8BCF-4126-8D6A-1C486779C95D}"/>
              </a:ext>
            </a:extLst>
          </p:cNvPr>
          <p:cNvSpPr>
            <a:spLocks xmlns:a="http://schemas.openxmlformats.org/drawingml/2006/main" noGrp="1"/>
          </p:cNvSpPr>
          <p:nvPr/>
        </p:nvSpPr>
        <p:spPr>
          <a:xfrm xmlns:a="http://schemas.openxmlformats.org/drawingml/2006/main">
            <a:off x="552450" y="53530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2EEE6"/>
                </a:solidFill>
                <a:latin typeface="Yu Gothic"/>
                <a:ea typeface="Yu Gothic"/>
                <a:cs typeface="Yu Gothic"/>
              </a:defRPr>
            </a:pPr>
            <a:r>
              <a:rPr sz="1650" b="1" i="0">
                <a:solidFill>
                  <a:srgbClr val="F2EEE6"/>
                </a:solidFill>
                <a:latin typeface="Yu Gothic"/>
                <a:ea typeface="Yu Gothic"/>
                <a:cs typeface="Yu Gothic"/>
              </a:rPr>
              <a:t>Ownership</a:t>
            </a:r>
          </a:p>
        </p:txBody>
      </p:sp>
      <p:sp>
        <p:nvSpPr>
          <p:cNvPr id="21" name="text-j12ck9">
            <a:extLst xmlns:a="http://schemas.openxmlformats.org/drawingml/2006/main">
              <a:ext uri="{FF2B5EF4-FFF2-40B4-BE49-F238E27FC236}">
                <a16:creationId xmlns:a16="http://schemas.microsoft.com/office/drawing/2014/main" id="{C83E405E-213F-4FBF-9AB9-423FF86D8F1D}"/>
              </a:ext>
            </a:extLst>
          </p:cNvPr>
          <p:cNvSpPr>
            <a:spLocks xmlns:a="http://schemas.openxmlformats.org/drawingml/2006/main" noGrp="1"/>
          </p:cNvSpPr>
          <p:nvPr/>
        </p:nvSpPr>
        <p:spPr>
          <a:xfrm xmlns:a="http://schemas.openxmlformats.org/drawingml/2006/main">
            <a:off x="3238500" y="537210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C3BEB5"/>
                </a:solidFill>
                <a:latin typeface="Yu Gothic"/>
                <a:ea typeface="Yu Gothic"/>
                <a:cs typeface="Yu Gothic"/>
              </a:defRPr>
            </a:pPr>
            <a:r>
              <a:rPr sz="1275" b="0" i="0">
                <a:solidFill>
                  <a:srgbClr val="C3BEB5"/>
                </a:solidFill>
                <a:latin typeface="Yu Gothic"/>
                <a:ea typeface="Yu Gothic"/>
                <a:cs typeface="Yu Gothic"/>
              </a:rPr>
              <a:t>Profiles and works can be changed only by their owner.</a:t>
            </a:r>
          </a:p>
        </p:txBody>
      </p:sp>
    </p:spTree>
    <p:extLst>
      <p:ext uri="{BB962C8B-B14F-4D97-AF65-F5344CB8AC3E}">
        <p14:creationId xmlns:p14="http://schemas.microsoft.com/office/powerpoint/2010/main" val="1271907948"/>
      </p:ext>
    </p:extLst>
  </p:cSld>
</p:sld>
</file>

<file path=ppt/slides/slide12.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25" name="rule-52-42">
            <a:extLst xmlns:a="http://schemas.openxmlformats.org/drawingml/2006/main">
              <a:ext uri="{FF2B5EF4-FFF2-40B4-BE49-F238E27FC236}">
                <a16:creationId xmlns:a16="http://schemas.microsoft.com/office/drawing/2014/main" id="{DA633CC0-3ABF-43CB-B0BE-2A4AD12CF439}"/>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zoot8r">
            <a:extLst xmlns:a="http://schemas.openxmlformats.org/drawingml/2006/main">
              <a:ext uri="{FF2B5EF4-FFF2-40B4-BE49-F238E27FC236}">
                <a16:creationId xmlns:a16="http://schemas.microsoft.com/office/drawing/2014/main" id="{F56E9EA1-8DED-4BD9-80B4-709120F82591}"/>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BUILD, TEST, DEPLOY</a:t>
            </a:r>
          </a:p>
        </p:txBody>
      </p:sp>
      <p:sp>
        <p:nvSpPr>
          <p:cNvPr id="3" name="rule-52-675">
            <a:extLst xmlns:a="http://schemas.openxmlformats.org/drawingml/2006/main">
              <a:ext uri="{FF2B5EF4-FFF2-40B4-BE49-F238E27FC236}">
                <a16:creationId xmlns:a16="http://schemas.microsoft.com/office/drawing/2014/main" id="{99FCF328-27C5-4666-A9F5-7B65EAC079B1}"/>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sqs90o">
            <a:extLst xmlns:a="http://schemas.openxmlformats.org/drawingml/2006/main">
              <a:ext uri="{FF2B5EF4-FFF2-40B4-BE49-F238E27FC236}">
                <a16:creationId xmlns:a16="http://schemas.microsoft.com/office/drawing/2014/main" id="{1E827977-6089-4537-9A19-CBFA5E5AD72A}"/>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12</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8f5a055bbac4641"/>
          <a:srcRect xmlns:a="http://schemas.openxmlformats.org/drawingml/2006/main" l="27595" t="0" r="27595" b="0"/>
          <a:stretch xmlns:a="http://schemas.openxmlformats.org/drawingml/2006/main">
            <a:fillRect l="0" t="0" r="0" b="0"/>
          </a:stretch>
        </p:blipFill>
        <p:spPr>
          <a:xfrm xmlns:a="http://schemas.openxmlformats.org/drawingml/2006/main">
            <a:off x="0" y="0"/>
            <a:ext cx="4095750" cy="6858000"/>
          </a:xfrm>
          <a:prstGeom xmlns:a="http://schemas.openxmlformats.org/drawingml/2006/main" prst="rect">
            <a:avLst/>
          </a:prstGeom>
        </p:spPr>
      </p:pic>
      <p:sp>
        <p:nvSpPr>
          <p:cNvPr id="6" name="deployment-paper">
            <a:extLst xmlns:a="http://schemas.openxmlformats.org/drawingml/2006/main">
              <a:ext uri="{FF2B5EF4-FFF2-40B4-BE49-F238E27FC236}">
                <a16:creationId xmlns:a16="http://schemas.microsoft.com/office/drawing/2014/main" id="{45FDBDBF-457B-442F-8E9E-0FCF4C9A8DEE}"/>
              </a:ext>
            </a:extLst>
          </p:cNvPr>
          <p:cNvSpPr>
            <a:spLocks xmlns:a="http://schemas.openxmlformats.org/drawingml/2006/main" noGrp="1"/>
          </p:cNvSpPr>
          <p:nvPr/>
        </p:nvSpPr>
        <p:spPr>
          <a:xfrm xmlns:a="http://schemas.openxmlformats.org/drawingml/2006/main">
            <a:off x="3771900" y="0"/>
            <a:ext cx="8420100" cy="6858000"/>
          </a:xfrm>
          <a:prstGeom xmlns:a="http://schemas.openxmlformats.org/drawingml/2006/main" prst="rect">
            <a:avLst/>
          </a:prstGeom>
          <a:solidFill xmlns:a="http://schemas.openxmlformats.org/drawingml/2006/main">
            <a:srgbClr val="F2EEE6"/>
          </a:solidFill>
          <a:ln xmlns:a="http://schemas.openxmlformats.org/drawingml/2006/main" w="0">
            <a:noFill/>
            <a:prstDash val="solid"/>
          </a:ln>
        </p:spPr>
      </p:sp>
      <p:sp>
        <p:nvSpPr>
          <p:cNvPr id="7" name="text-x1snxg">
            <a:extLst xmlns:a="http://schemas.openxmlformats.org/drawingml/2006/main">
              <a:ext uri="{FF2B5EF4-FFF2-40B4-BE49-F238E27FC236}">
                <a16:creationId xmlns:a16="http://schemas.microsoft.com/office/drawing/2014/main" id="{0791C203-3ABF-471E-A242-94EA2A128C0D}"/>
              </a:ext>
            </a:extLst>
          </p:cNvPr>
          <p:cNvSpPr>
            <a:spLocks xmlns:a="http://schemas.openxmlformats.org/drawingml/2006/main" noGrp="1"/>
          </p:cNvSpPr>
          <p:nvPr/>
        </p:nvSpPr>
        <p:spPr>
          <a:xfrm xmlns:a="http://schemas.openxmlformats.org/drawingml/2006/main">
            <a:off x="4476750" y="781050"/>
            <a:ext cx="685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0" i="0">
                <a:solidFill>
                  <a:srgbClr val="171613"/>
                </a:solidFill>
                <a:latin typeface="Georgia"/>
                <a:ea typeface="Georgia"/>
                <a:cs typeface="Georgia"/>
              </a:defRPr>
            </a:pPr>
            <a:r>
              <a:rPr sz="3450" b="0" i="0">
                <a:solidFill>
                  <a:srgbClr val="171613"/>
                </a:solidFill>
                <a:latin typeface="Georgia"/>
                <a:ea typeface="Georgia"/>
                <a:cs typeface="Georgia"/>
              </a:rPr>
              <a:t>One tested image,</a:t>
            </a:r>
          </a:p>
          <a:p xmlns:a="http://schemas.openxmlformats.org/drawingml/2006/main">
            <a:pPr algn="l">
              <a:lnSpc>
                <a:spcPct val="98000"/>
              </a:lnSpc>
              <a:buNone/>
              <a:defRPr sz="3450" b="0" i="0">
                <a:solidFill>
                  <a:srgbClr val="171613"/>
                </a:solidFill>
                <a:latin typeface="Georgia"/>
                <a:ea typeface="Georgia"/>
                <a:cs typeface="Georgia"/>
              </a:defRPr>
            </a:pPr>
            <a:r>
              <a:rPr sz="3450" b="0" i="0">
                <a:solidFill>
                  <a:srgbClr val="171613"/>
                </a:solidFill>
                <a:latin typeface="Georgia"/>
                <a:ea typeface="Georgia"/>
                <a:cs typeface="Georgia"/>
              </a:rPr>
              <a:t>from local Docker to Azure.</a:t>
            </a:r>
          </a:p>
        </p:txBody>
      </p:sp>
      <p:sp>
        <p:nvSpPr>
          <p:cNvPr id="8" name="text-5ypeuo">
            <a:extLst xmlns:a="http://schemas.openxmlformats.org/drawingml/2006/main">
              <a:ext uri="{FF2B5EF4-FFF2-40B4-BE49-F238E27FC236}">
                <a16:creationId xmlns:a16="http://schemas.microsoft.com/office/drawing/2014/main" id="{0BF89BA5-A815-4058-91E4-09A282021148}"/>
              </a:ext>
            </a:extLst>
          </p:cNvPr>
          <p:cNvSpPr>
            <a:spLocks xmlns:a="http://schemas.openxmlformats.org/drawingml/2006/main" noGrp="1"/>
          </p:cNvSpPr>
          <p:nvPr/>
        </p:nvSpPr>
        <p:spPr>
          <a:xfrm xmlns:a="http://schemas.openxmlformats.org/drawingml/2006/main">
            <a:off x="4533900" y="243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D84A32"/>
                </a:solidFill>
                <a:latin typeface="Consolas"/>
                <a:ea typeface="Consolas"/>
                <a:cs typeface="Consolas"/>
              </a:defRPr>
            </a:pPr>
            <a:r>
              <a:rPr sz="750" b="1" i="0">
                <a:solidFill>
                  <a:srgbClr val="D84A32"/>
                </a:solidFill>
                <a:latin typeface="Consolas"/>
                <a:ea typeface="Consolas"/>
                <a:cs typeface="Consolas"/>
              </a:rPr>
              <a:t>01</a:t>
            </a:r>
          </a:p>
        </p:txBody>
      </p:sp>
      <p:sp>
        <p:nvSpPr>
          <p:cNvPr id="9" name="text-s7qxcs">
            <a:extLst xmlns:a="http://schemas.openxmlformats.org/drawingml/2006/main">
              <a:ext uri="{FF2B5EF4-FFF2-40B4-BE49-F238E27FC236}">
                <a16:creationId xmlns:a16="http://schemas.microsoft.com/office/drawing/2014/main" id="{C67FA9B4-1E57-45C2-A880-0E0BC442961B}"/>
              </a:ext>
            </a:extLst>
          </p:cNvPr>
          <p:cNvSpPr>
            <a:spLocks xmlns:a="http://schemas.openxmlformats.org/drawingml/2006/main" noGrp="1"/>
          </p:cNvSpPr>
          <p:nvPr/>
        </p:nvSpPr>
        <p:spPr>
          <a:xfrm xmlns:a="http://schemas.openxmlformats.org/drawingml/2006/main">
            <a:off x="5048250" y="24003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171613"/>
                </a:solidFill>
                <a:latin typeface="Yu Gothic"/>
                <a:ea typeface="Yu Gothic"/>
                <a:cs typeface="Yu Gothic"/>
              </a:defRPr>
            </a:pPr>
            <a:r>
              <a:rPr sz="1650" b="1" i="0">
                <a:solidFill>
                  <a:srgbClr val="171613"/>
                </a:solidFill>
                <a:latin typeface="Yu Gothic"/>
                <a:ea typeface="Yu Gothic"/>
                <a:cs typeface="Yu Gothic"/>
              </a:rPr>
              <a:t>Maven</a:t>
            </a:r>
          </a:p>
        </p:txBody>
      </p:sp>
      <p:sp>
        <p:nvSpPr>
          <p:cNvPr id="10" name="text-n9aaqo">
            <a:extLst xmlns:a="http://schemas.openxmlformats.org/drawingml/2006/main">
              <a:ext uri="{FF2B5EF4-FFF2-40B4-BE49-F238E27FC236}">
                <a16:creationId xmlns:a16="http://schemas.microsoft.com/office/drawing/2014/main" id="{C1479108-F722-43F9-A654-8A47831E644D}"/>
              </a:ext>
            </a:extLst>
          </p:cNvPr>
          <p:cNvSpPr>
            <a:spLocks xmlns:a="http://schemas.openxmlformats.org/drawingml/2006/main" noGrp="1"/>
          </p:cNvSpPr>
          <p:nvPr/>
        </p:nvSpPr>
        <p:spPr>
          <a:xfrm xmlns:a="http://schemas.openxmlformats.org/drawingml/2006/main">
            <a:off x="7200900" y="24384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compile + 9 regression tests</a:t>
            </a:r>
          </a:p>
        </p:txBody>
      </p:sp>
      <p:sp>
        <p:nvSpPr>
          <p:cNvPr id="11" name="rule-476-306">
            <a:extLst xmlns:a="http://schemas.openxmlformats.org/drawingml/2006/main">
              <a:ext uri="{FF2B5EF4-FFF2-40B4-BE49-F238E27FC236}">
                <a16:creationId xmlns:a16="http://schemas.microsoft.com/office/drawing/2014/main" id="{67755E2B-955E-404B-8E11-DB9E598D3F42}"/>
              </a:ext>
            </a:extLst>
          </p:cNvPr>
          <p:cNvSpPr>
            <a:spLocks xmlns:a="http://schemas.openxmlformats.org/drawingml/2006/main" noGrp="1"/>
          </p:cNvSpPr>
          <p:nvPr/>
        </p:nvSpPr>
        <p:spPr>
          <a:xfrm xmlns:a="http://schemas.openxmlformats.org/drawingml/2006/main">
            <a:off x="4533900" y="2914650"/>
            <a:ext cx="6572250" cy="9525"/>
          </a:xfrm>
          <a:prstGeom xmlns:a="http://schemas.openxmlformats.org/drawingml/2006/main" prst="rect">
            <a:avLst/>
          </a:prstGeom>
          <a:solidFill xmlns:a="http://schemas.openxmlformats.org/drawingml/2006/main">
            <a:srgbClr val="DDD5C8"/>
          </a:solidFill>
          <a:ln xmlns:a="http://schemas.openxmlformats.org/drawingml/2006/main" w="0">
            <a:noFill/>
            <a:prstDash val="solid"/>
          </a:ln>
        </p:spPr>
      </p:sp>
      <p:sp>
        <p:nvSpPr>
          <p:cNvPr id="12" name="text-5wln0n">
            <a:extLst xmlns:a="http://schemas.openxmlformats.org/drawingml/2006/main">
              <a:ext uri="{FF2B5EF4-FFF2-40B4-BE49-F238E27FC236}">
                <a16:creationId xmlns:a16="http://schemas.microsoft.com/office/drawing/2014/main" id="{AE9B8153-8534-4451-B571-67237DD032FE}"/>
              </a:ext>
            </a:extLst>
          </p:cNvPr>
          <p:cNvSpPr>
            <a:spLocks xmlns:a="http://schemas.openxmlformats.org/drawingml/2006/main" noGrp="1"/>
          </p:cNvSpPr>
          <p:nvPr/>
        </p:nvSpPr>
        <p:spPr>
          <a:xfrm xmlns:a="http://schemas.openxmlformats.org/drawingml/2006/main">
            <a:off x="4533900" y="32194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D84A32"/>
                </a:solidFill>
                <a:latin typeface="Consolas"/>
                <a:ea typeface="Consolas"/>
                <a:cs typeface="Consolas"/>
              </a:defRPr>
            </a:pPr>
            <a:r>
              <a:rPr sz="750" b="1" i="0">
                <a:solidFill>
                  <a:srgbClr val="D84A32"/>
                </a:solidFill>
                <a:latin typeface="Consolas"/>
                <a:ea typeface="Consolas"/>
                <a:cs typeface="Consolas"/>
              </a:rPr>
              <a:t>02</a:t>
            </a:r>
          </a:p>
        </p:txBody>
      </p:sp>
      <p:sp>
        <p:nvSpPr>
          <p:cNvPr id="13" name="text-zp4z7m">
            <a:extLst xmlns:a="http://schemas.openxmlformats.org/drawingml/2006/main">
              <a:ext uri="{FF2B5EF4-FFF2-40B4-BE49-F238E27FC236}">
                <a16:creationId xmlns:a16="http://schemas.microsoft.com/office/drawing/2014/main" id="{EEF7CBDF-5206-4457-8235-003952C69609}"/>
              </a:ext>
            </a:extLst>
          </p:cNvPr>
          <p:cNvSpPr>
            <a:spLocks xmlns:a="http://schemas.openxmlformats.org/drawingml/2006/main" noGrp="1"/>
          </p:cNvSpPr>
          <p:nvPr/>
        </p:nvSpPr>
        <p:spPr>
          <a:xfrm xmlns:a="http://schemas.openxmlformats.org/drawingml/2006/main">
            <a:off x="5048250" y="31813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171613"/>
                </a:solidFill>
                <a:latin typeface="Yu Gothic"/>
                <a:ea typeface="Yu Gothic"/>
                <a:cs typeface="Yu Gothic"/>
              </a:defRPr>
            </a:pPr>
            <a:r>
              <a:rPr sz="1650" b="1" i="0">
                <a:solidFill>
                  <a:srgbClr val="171613"/>
                </a:solidFill>
                <a:latin typeface="Yu Gothic"/>
                <a:ea typeface="Yu Gothic"/>
                <a:cs typeface="Yu Gothic"/>
              </a:rPr>
              <a:t>Docker</a:t>
            </a:r>
          </a:p>
        </p:txBody>
      </p:sp>
      <p:sp>
        <p:nvSpPr>
          <p:cNvPr id="14" name="text-u8efqy">
            <a:extLst xmlns:a="http://schemas.openxmlformats.org/drawingml/2006/main">
              <a:ext uri="{FF2B5EF4-FFF2-40B4-BE49-F238E27FC236}">
                <a16:creationId xmlns:a16="http://schemas.microsoft.com/office/drawing/2014/main" id="{26D32E81-E8FC-46BF-A611-07C0D1833FDF}"/>
              </a:ext>
            </a:extLst>
          </p:cNvPr>
          <p:cNvSpPr>
            <a:spLocks xmlns:a="http://schemas.openxmlformats.org/drawingml/2006/main" noGrp="1"/>
          </p:cNvSpPr>
          <p:nvPr/>
        </p:nvSpPr>
        <p:spPr>
          <a:xfrm xmlns:a="http://schemas.openxmlformats.org/drawingml/2006/main">
            <a:off x="7200900" y="32194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one immutable release image</a:t>
            </a:r>
          </a:p>
        </p:txBody>
      </p:sp>
      <p:sp>
        <p:nvSpPr>
          <p:cNvPr id="15" name="rule-476-388">
            <a:extLst xmlns:a="http://schemas.openxmlformats.org/drawingml/2006/main">
              <a:ext uri="{FF2B5EF4-FFF2-40B4-BE49-F238E27FC236}">
                <a16:creationId xmlns:a16="http://schemas.microsoft.com/office/drawing/2014/main" id="{836A0A32-FB94-4375-8E9B-D33BA487B682}"/>
              </a:ext>
            </a:extLst>
          </p:cNvPr>
          <p:cNvSpPr>
            <a:spLocks xmlns:a="http://schemas.openxmlformats.org/drawingml/2006/main" noGrp="1"/>
          </p:cNvSpPr>
          <p:nvPr/>
        </p:nvSpPr>
        <p:spPr>
          <a:xfrm xmlns:a="http://schemas.openxmlformats.org/drawingml/2006/main">
            <a:off x="4533900" y="3695700"/>
            <a:ext cx="6572250" cy="9525"/>
          </a:xfrm>
          <a:prstGeom xmlns:a="http://schemas.openxmlformats.org/drawingml/2006/main" prst="rect">
            <a:avLst/>
          </a:prstGeom>
          <a:solidFill xmlns:a="http://schemas.openxmlformats.org/drawingml/2006/main">
            <a:srgbClr val="DDD5C8"/>
          </a:solidFill>
          <a:ln xmlns:a="http://schemas.openxmlformats.org/drawingml/2006/main" w="0">
            <a:noFill/>
            <a:prstDash val="solid"/>
          </a:ln>
        </p:spPr>
      </p:sp>
      <p:sp>
        <p:nvSpPr>
          <p:cNvPr id="16" name="text-dsedgh">
            <a:extLst xmlns:a="http://schemas.openxmlformats.org/drawingml/2006/main">
              <a:ext uri="{FF2B5EF4-FFF2-40B4-BE49-F238E27FC236}">
                <a16:creationId xmlns:a16="http://schemas.microsoft.com/office/drawing/2014/main" id="{F5F59815-72D2-4847-B897-DA6721CFE368}"/>
              </a:ext>
            </a:extLst>
          </p:cNvPr>
          <p:cNvSpPr>
            <a:spLocks xmlns:a="http://schemas.openxmlformats.org/drawingml/2006/main" noGrp="1"/>
          </p:cNvSpPr>
          <p:nvPr/>
        </p:nvSpPr>
        <p:spPr>
          <a:xfrm xmlns:a="http://schemas.openxmlformats.org/drawingml/2006/main">
            <a:off x="4533900" y="40005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D84A32"/>
                </a:solidFill>
                <a:latin typeface="Consolas"/>
                <a:ea typeface="Consolas"/>
                <a:cs typeface="Consolas"/>
              </a:defRPr>
            </a:pPr>
            <a:r>
              <a:rPr sz="750" b="1" i="0">
                <a:solidFill>
                  <a:srgbClr val="D84A32"/>
                </a:solidFill>
                <a:latin typeface="Consolas"/>
                <a:ea typeface="Consolas"/>
                <a:cs typeface="Consolas"/>
              </a:rPr>
              <a:t>03</a:t>
            </a:r>
          </a:p>
        </p:txBody>
      </p:sp>
      <p:sp>
        <p:nvSpPr>
          <p:cNvPr id="17" name="text-7yt8y9">
            <a:extLst xmlns:a="http://schemas.openxmlformats.org/drawingml/2006/main">
              <a:ext uri="{FF2B5EF4-FFF2-40B4-BE49-F238E27FC236}">
                <a16:creationId xmlns:a16="http://schemas.microsoft.com/office/drawing/2014/main" id="{24BD349A-EE1F-4F1F-8ABB-57C47B88713D}"/>
              </a:ext>
            </a:extLst>
          </p:cNvPr>
          <p:cNvSpPr>
            <a:spLocks xmlns:a="http://schemas.openxmlformats.org/drawingml/2006/main" noGrp="1"/>
          </p:cNvSpPr>
          <p:nvPr/>
        </p:nvSpPr>
        <p:spPr>
          <a:xfrm xmlns:a="http://schemas.openxmlformats.org/drawingml/2006/main">
            <a:off x="5048250" y="39624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171613"/>
                </a:solidFill>
                <a:latin typeface="Yu Gothic"/>
                <a:ea typeface="Yu Gothic"/>
                <a:cs typeface="Yu Gothic"/>
              </a:defRPr>
            </a:pPr>
            <a:r>
              <a:rPr sz="1650" b="1" i="0">
                <a:solidFill>
                  <a:srgbClr val="171613"/>
                </a:solidFill>
                <a:latin typeface="Yu Gothic"/>
                <a:ea typeface="Yu Gothic"/>
                <a:cs typeface="Yu Gothic"/>
              </a:rPr>
              <a:t>Docker Hub</a:t>
            </a:r>
          </a:p>
        </p:txBody>
      </p:sp>
      <p:sp>
        <p:nvSpPr>
          <p:cNvPr id="18" name="text-04ef3p">
            <a:extLst xmlns:a="http://schemas.openxmlformats.org/drawingml/2006/main">
              <a:ext uri="{FF2B5EF4-FFF2-40B4-BE49-F238E27FC236}">
                <a16:creationId xmlns:a16="http://schemas.microsoft.com/office/drawing/2014/main" id="{D4FAAFF4-45E5-4E79-96A8-CC1B1966C931}"/>
              </a:ext>
            </a:extLst>
          </p:cNvPr>
          <p:cNvSpPr>
            <a:spLocks xmlns:a="http://schemas.openxmlformats.org/drawingml/2006/main" noGrp="1"/>
          </p:cNvSpPr>
          <p:nvPr/>
        </p:nvSpPr>
        <p:spPr>
          <a:xfrm xmlns:a="http://schemas.openxmlformats.org/drawingml/2006/main">
            <a:off x="7200900" y="40005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release-20260724</a:t>
            </a:r>
          </a:p>
        </p:txBody>
      </p:sp>
      <p:sp>
        <p:nvSpPr>
          <p:cNvPr id="19" name="rule-476-470">
            <a:extLst xmlns:a="http://schemas.openxmlformats.org/drawingml/2006/main">
              <a:ext uri="{FF2B5EF4-FFF2-40B4-BE49-F238E27FC236}">
                <a16:creationId xmlns:a16="http://schemas.microsoft.com/office/drawing/2014/main" id="{F4632ED4-8BC3-4E08-B109-11E04B938F1A}"/>
              </a:ext>
            </a:extLst>
          </p:cNvPr>
          <p:cNvSpPr>
            <a:spLocks xmlns:a="http://schemas.openxmlformats.org/drawingml/2006/main" noGrp="1"/>
          </p:cNvSpPr>
          <p:nvPr/>
        </p:nvSpPr>
        <p:spPr>
          <a:xfrm xmlns:a="http://schemas.openxmlformats.org/drawingml/2006/main">
            <a:off x="4533900" y="4476750"/>
            <a:ext cx="6572250" cy="9525"/>
          </a:xfrm>
          <a:prstGeom xmlns:a="http://schemas.openxmlformats.org/drawingml/2006/main" prst="rect">
            <a:avLst/>
          </a:prstGeom>
          <a:solidFill xmlns:a="http://schemas.openxmlformats.org/drawingml/2006/main">
            <a:srgbClr val="DDD5C8"/>
          </a:solidFill>
          <a:ln xmlns:a="http://schemas.openxmlformats.org/drawingml/2006/main" w="0">
            <a:noFill/>
            <a:prstDash val="solid"/>
          </a:ln>
        </p:spPr>
      </p:sp>
      <p:sp>
        <p:nvSpPr>
          <p:cNvPr id="20" name="text-98syd4">
            <a:extLst xmlns:a="http://schemas.openxmlformats.org/drawingml/2006/main">
              <a:ext uri="{FF2B5EF4-FFF2-40B4-BE49-F238E27FC236}">
                <a16:creationId xmlns:a16="http://schemas.microsoft.com/office/drawing/2014/main" id="{A9312A34-84C0-434E-ADB6-5910FB8F83E4}"/>
              </a:ext>
            </a:extLst>
          </p:cNvPr>
          <p:cNvSpPr>
            <a:spLocks xmlns:a="http://schemas.openxmlformats.org/drawingml/2006/main" noGrp="1"/>
          </p:cNvSpPr>
          <p:nvPr/>
        </p:nvSpPr>
        <p:spPr>
          <a:xfrm xmlns:a="http://schemas.openxmlformats.org/drawingml/2006/main">
            <a:off x="4533900" y="47815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D84A32"/>
                </a:solidFill>
                <a:latin typeface="Consolas"/>
                <a:ea typeface="Consolas"/>
                <a:cs typeface="Consolas"/>
              </a:defRPr>
            </a:pPr>
            <a:r>
              <a:rPr sz="750" b="1" i="0">
                <a:solidFill>
                  <a:srgbClr val="D84A32"/>
                </a:solidFill>
                <a:latin typeface="Consolas"/>
                <a:ea typeface="Consolas"/>
                <a:cs typeface="Consolas"/>
              </a:rPr>
              <a:t>04</a:t>
            </a:r>
          </a:p>
        </p:txBody>
      </p:sp>
      <p:sp>
        <p:nvSpPr>
          <p:cNvPr id="21" name="text-0yivx6">
            <a:extLst xmlns:a="http://schemas.openxmlformats.org/drawingml/2006/main">
              <a:ext uri="{FF2B5EF4-FFF2-40B4-BE49-F238E27FC236}">
                <a16:creationId xmlns:a16="http://schemas.microsoft.com/office/drawing/2014/main" id="{2A75824E-737C-4A62-94A1-03CD3CAE103E}"/>
              </a:ext>
            </a:extLst>
          </p:cNvPr>
          <p:cNvSpPr>
            <a:spLocks xmlns:a="http://schemas.openxmlformats.org/drawingml/2006/main" noGrp="1"/>
          </p:cNvSpPr>
          <p:nvPr/>
        </p:nvSpPr>
        <p:spPr>
          <a:xfrm xmlns:a="http://schemas.openxmlformats.org/drawingml/2006/main">
            <a:off x="5048250" y="47434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171613"/>
                </a:solidFill>
                <a:latin typeface="Yu Gothic"/>
                <a:ea typeface="Yu Gothic"/>
                <a:cs typeface="Yu Gothic"/>
              </a:defRPr>
            </a:pPr>
            <a:r>
              <a:rPr sz="1650" b="1" i="0">
                <a:solidFill>
                  <a:srgbClr val="171613"/>
                </a:solidFill>
                <a:latin typeface="Yu Gothic"/>
                <a:ea typeface="Yu Gothic"/>
                <a:cs typeface="Yu Gothic"/>
              </a:rPr>
              <a:t>Azure</a:t>
            </a:r>
          </a:p>
        </p:txBody>
      </p:sp>
      <p:sp>
        <p:nvSpPr>
          <p:cNvPr id="22" name="text-5nvxba">
            <a:extLst xmlns:a="http://schemas.openxmlformats.org/drawingml/2006/main">
              <a:ext uri="{FF2B5EF4-FFF2-40B4-BE49-F238E27FC236}">
                <a16:creationId xmlns:a16="http://schemas.microsoft.com/office/drawing/2014/main" id="{2277B1BF-2156-4020-B796-F642A425C662}"/>
              </a:ext>
            </a:extLst>
          </p:cNvPr>
          <p:cNvSpPr>
            <a:spLocks xmlns:a="http://schemas.openxmlformats.org/drawingml/2006/main" noGrp="1"/>
          </p:cNvSpPr>
          <p:nvPr/>
        </p:nvSpPr>
        <p:spPr>
          <a:xfrm xmlns:a="http://schemas.openxmlformats.org/drawingml/2006/main">
            <a:off x="7200900" y="47815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one Linux Web App on port 8080</a:t>
            </a:r>
          </a:p>
        </p:txBody>
      </p:sp>
      <p:sp>
        <p:nvSpPr>
          <p:cNvPr id="23" name="text-268p70">
            <a:extLst xmlns:a="http://schemas.openxmlformats.org/drawingml/2006/main">
              <a:ext uri="{FF2B5EF4-FFF2-40B4-BE49-F238E27FC236}">
                <a16:creationId xmlns:a16="http://schemas.microsoft.com/office/drawing/2014/main" id="{62A5573A-44E9-4504-AF91-2D99B96225C9}"/>
              </a:ext>
            </a:extLst>
          </p:cNvPr>
          <p:cNvSpPr>
            <a:spLocks xmlns:a="http://schemas.openxmlformats.org/drawingml/2006/main" noGrp="1"/>
          </p:cNvSpPr>
          <p:nvPr/>
        </p:nvSpPr>
        <p:spPr>
          <a:xfrm xmlns:a="http://schemas.openxmlformats.org/drawingml/2006/main">
            <a:off x="9667875" y="5276850"/>
            <a:ext cx="857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84"/>
          </a:bodyPr>
          <a:lstStyle xmlns:a="http://schemas.openxmlformats.org/drawingml/2006/main"/>
          <a:p xmlns:a="http://schemas.openxmlformats.org/drawingml/2006/main">
            <a:pPr algn="r">
              <a:lnSpc>
                <a:spcPct val="105000"/>
              </a:lnSpc>
              <a:buNone/>
              <a:defRPr sz="4500" b="0" i="0">
                <a:solidFill>
                  <a:srgbClr val="D84A32"/>
                </a:solidFill>
                <a:latin typeface="Georgia"/>
                <a:ea typeface="Georgia"/>
                <a:cs typeface="Georgia"/>
              </a:defRPr>
            </a:pPr>
            <a:r>
              <a:rPr sz="4500" b="0" i="0">
                <a:solidFill>
                  <a:srgbClr val="D84A32"/>
                </a:solidFill>
                <a:latin typeface="Georgia"/>
                <a:ea typeface="Georgia"/>
                <a:cs typeface="Georgia"/>
              </a:rPr>
              <a:t>9</a:t>
            </a:r>
          </a:p>
        </p:txBody>
      </p:sp>
      <p:sp>
        <p:nvSpPr>
          <p:cNvPr id="24" name="text-4nbez6">
            <a:extLst xmlns:a="http://schemas.openxmlformats.org/drawingml/2006/main">
              <a:ext uri="{FF2B5EF4-FFF2-40B4-BE49-F238E27FC236}">
                <a16:creationId xmlns:a16="http://schemas.microsoft.com/office/drawing/2014/main" id="{7944E1D0-4D79-4A2B-B10A-02308D478281}"/>
              </a:ext>
            </a:extLst>
          </p:cNvPr>
          <p:cNvSpPr>
            <a:spLocks xmlns:a="http://schemas.openxmlformats.org/drawingml/2006/main" noGrp="1"/>
          </p:cNvSpPr>
          <p:nvPr/>
        </p:nvSpPr>
        <p:spPr>
          <a:xfrm xmlns:a="http://schemas.openxmlformats.org/drawingml/2006/main">
            <a:off x="10553700" y="5410200"/>
            <a:ext cx="95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4D4942"/>
                </a:solidFill>
                <a:latin typeface="Consolas"/>
                <a:ea typeface="Consolas"/>
                <a:cs typeface="Consolas"/>
              </a:defRPr>
            </a:pPr>
            <a:r>
              <a:rPr sz="975" b="1" i="0">
                <a:solidFill>
                  <a:srgbClr val="4D4942"/>
                </a:solidFill>
                <a:latin typeface="Consolas"/>
                <a:ea typeface="Consolas"/>
                <a:cs typeface="Consolas"/>
              </a:rPr>
              <a:t>tests</a:t>
            </a:r>
          </a:p>
          <a:p xmlns:a="http://schemas.openxmlformats.org/drawingml/2006/main">
            <a:pPr algn="l">
              <a:lnSpc>
                <a:spcPct val="105000"/>
              </a:lnSpc>
              <a:buNone/>
              <a:defRPr sz="975" b="1" i="0">
                <a:solidFill>
                  <a:srgbClr val="4D4942"/>
                </a:solidFill>
                <a:latin typeface="Consolas"/>
                <a:ea typeface="Consolas"/>
                <a:cs typeface="Consolas"/>
              </a:defRPr>
            </a:pPr>
            <a:r>
              <a:rPr sz="975" b="1" i="0">
                <a:solidFill>
                  <a:srgbClr val="4D4942"/>
                </a:solidFill>
                <a:latin typeface="Consolas"/>
                <a:ea typeface="Consolas"/>
                <a:cs typeface="Consolas"/>
              </a:rPr>
              <a:t>0 failures</a:t>
            </a:r>
          </a:p>
        </p:txBody>
      </p:sp>
    </p:spTree>
    <p:extLst>
      <p:ext uri="{BB962C8B-B14F-4D97-AF65-F5344CB8AC3E}">
        <p14:creationId xmlns:p14="http://schemas.microsoft.com/office/powerpoint/2010/main" val="79129013"/>
      </p:ext>
    </p:extLst>
  </p:cSld>
</p:sld>
</file>

<file path=ppt/slides/slide13.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27" name="rule-52-42">
            <a:extLst xmlns:a="http://schemas.openxmlformats.org/drawingml/2006/main">
              <a:ext uri="{FF2B5EF4-FFF2-40B4-BE49-F238E27FC236}">
                <a16:creationId xmlns:a16="http://schemas.microsoft.com/office/drawing/2014/main" id="{374D9CDF-1989-45D9-9349-A8817E033A99}"/>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m5rotg">
            <a:extLst xmlns:a="http://schemas.openxmlformats.org/drawingml/2006/main">
              <a:ext uri="{FF2B5EF4-FFF2-40B4-BE49-F238E27FC236}">
                <a16:creationId xmlns:a16="http://schemas.microsoft.com/office/drawing/2014/main" id="{277AF1DD-D3A1-40E1-88B6-64611B8163D7}"/>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CLASSROOM REQUIREMENTS</a:t>
            </a:r>
          </a:p>
        </p:txBody>
      </p:sp>
      <p:sp>
        <p:nvSpPr>
          <p:cNvPr id="3" name="rule-52-675">
            <a:extLst xmlns:a="http://schemas.openxmlformats.org/drawingml/2006/main">
              <a:ext uri="{FF2B5EF4-FFF2-40B4-BE49-F238E27FC236}">
                <a16:creationId xmlns:a16="http://schemas.microsoft.com/office/drawing/2014/main" id="{72475770-F9BA-43F7-8265-66A0D54F8EB0}"/>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rmfris">
            <a:extLst xmlns:a="http://schemas.openxmlformats.org/drawingml/2006/main">
              <a:ext uri="{FF2B5EF4-FFF2-40B4-BE49-F238E27FC236}">
                <a16:creationId xmlns:a16="http://schemas.microsoft.com/office/drawing/2014/main" id="{989AB4B4-3724-41BE-83E3-523D70AF84A4}"/>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13</a:t>
            </a:r>
          </a:p>
        </p:txBody>
      </p:sp>
      <p:sp>
        <p:nvSpPr>
          <p:cNvPr id="5" name="text-lb8uv7">
            <a:extLst xmlns:a="http://schemas.openxmlformats.org/drawingml/2006/main">
              <a:ext uri="{FF2B5EF4-FFF2-40B4-BE49-F238E27FC236}">
                <a16:creationId xmlns:a16="http://schemas.microsoft.com/office/drawing/2014/main" id="{FDC1C48C-E8C2-41A5-9923-07595BAC66EA}"/>
              </a:ext>
            </a:extLst>
          </p:cNvPr>
          <p:cNvSpPr>
            <a:spLocks xmlns:a="http://schemas.openxmlformats.org/drawingml/2006/main" noGrp="1"/>
          </p:cNvSpPr>
          <p:nvPr/>
        </p:nvSpPr>
        <p:spPr>
          <a:xfrm xmlns:a="http://schemas.openxmlformats.org/drawingml/2006/main">
            <a:off x="514350" y="742950"/>
            <a:ext cx="723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70"/>
          </a:bodyPr>
          <a:lstStyle xmlns:a="http://schemas.openxmlformats.org/drawingml/2006/main"/>
          <a:p xmlns:a="http://schemas.openxmlformats.org/drawingml/2006/main">
            <a:pPr algn="l">
              <a:lnSpc>
                <a:spcPct val="98000"/>
              </a:lnSpc>
              <a:buNone/>
              <a:defRPr sz="3150" b="0" i="0">
                <a:solidFill>
                  <a:srgbClr val="171613"/>
                </a:solidFill>
                <a:latin typeface="Georgia"/>
                <a:ea typeface="Georgia"/>
                <a:cs typeface="Georgia"/>
              </a:defRPr>
            </a:pPr>
            <a:r>
              <a:rPr sz="3150" b="0" i="0">
                <a:solidFill>
                  <a:srgbClr val="171613"/>
                </a:solidFill>
                <a:latin typeface="Georgia"/>
                <a:ea typeface="Georgia"/>
                <a:cs typeface="Georgia"/>
              </a:rPr>
              <a:t>The assignment requirements are covered</a:t>
            </a:r>
          </a:p>
          <a:p xmlns:a="http://schemas.openxmlformats.org/drawingml/2006/main">
            <a:pPr algn="l">
              <a:lnSpc>
                <a:spcPct val="98000"/>
              </a:lnSpc>
              <a:buNone/>
              <a:defRPr sz="3150" b="0" i="0">
                <a:solidFill>
                  <a:srgbClr val="171613"/>
                </a:solidFill>
                <a:latin typeface="Georgia"/>
                <a:ea typeface="Georgia"/>
                <a:cs typeface="Georgia"/>
              </a:defRPr>
            </a:pPr>
            <a:r>
              <a:rPr sz="3150" b="0" i="0">
                <a:solidFill>
                  <a:srgbClr val="171613"/>
                </a:solidFill>
                <a:latin typeface="Georgia"/>
                <a:ea typeface="Georgia"/>
                <a:cs typeface="Georgia"/>
              </a:rPr>
              <a:t>by working parts of the system.</a:t>
            </a:r>
          </a:p>
        </p:txBody>
      </p:sp>
      <p:sp>
        <p:nvSpPr>
          <p:cNvPr id="6" name="text-tdq107">
            <a:extLst xmlns:a="http://schemas.openxmlformats.org/drawingml/2006/main">
              <a:ext uri="{FF2B5EF4-FFF2-40B4-BE49-F238E27FC236}">
                <a16:creationId xmlns:a16="http://schemas.microsoft.com/office/drawing/2014/main" id="{AA10A9F1-5172-4670-8B04-E116831EDD0E}"/>
              </a:ext>
            </a:extLst>
          </p:cNvPr>
          <p:cNvSpPr>
            <a:spLocks xmlns:a="http://schemas.openxmlformats.org/drawingml/2006/main" noGrp="1"/>
          </p:cNvSpPr>
          <p:nvPr/>
        </p:nvSpPr>
        <p:spPr>
          <a:xfrm xmlns:a="http://schemas.openxmlformats.org/drawingml/2006/main">
            <a:off x="552450" y="22098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D84A32"/>
                </a:solidFill>
                <a:latin typeface="Yu Gothic"/>
                <a:ea typeface="Yu Gothic"/>
                <a:cs typeface="Yu Gothic"/>
              </a:defRPr>
            </a:pPr>
            <a:r>
              <a:rPr sz="1650" b="1" i="0">
                <a:solidFill>
                  <a:srgbClr val="D84A32"/>
                </a:solidFill>
                <a:latin typeface="Yu Gothic"/>
                <a:ea typeface="Yu Gothic"/>
                <a:cs typeface="Yu Gothic"/>
              </a:rPr>
              <a:t>✓</a:t>
            </a:r>
          </a:p>
        </p:txBody>
      </p:sp>
      <p:sp>
        <p:nvSpPr>
          <p:cNvPr id="7" name="text-89etmt">
            <a:extLst xmlns:a="http://schemas.openxmlformats.org/drawingml/2006/main">
              <a:ext uri="{FF2B5EF4-FFF2-40B4-BE49-F238E27FC236}">
                <a16:creationId xmlns:a16="http://schemas.microsoft.com/office/drawing/2014/main" id="{25CD65C4-3725-4765-885C-E21B16962C37}"/>
              </a:ext>
            </a:extLst>
          </p:cNvPr>
          <p:cNvSpPr>
            <a:spLocks xmlns:a="http://schemas.openxmlformats.org/drawingml/2006/main" noGrp="1"/>
          </p:cNvSpPr>
          <p:nvPr/>
        </p:nvSpPr>
        <p:spPr>
          <a:xfrm xmlns:a="http://schemas.openxmlformats.org/drawingml/2006/main">
            <a:off x="971550" y="22288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CLIENT + SERVICE</a:t>
            </a:r>
          </a:p>
        </p:txBody>
      </p:sp>
      <p:sp>
        <p:nvSpPr>
          <p:cNvPr id="8" name="text-zzr599">
            <a:extLst xmlns:a="http://schemas.openxmlformats.org/drawingml/2006/main">
              <a:ext uri="{FF2B5EF4-FFF2-40B4-BE49-F238E27FC236}">
                <a16:creationId xmlns:a16="http://schemas.microsoft.com/office/drawing/2014/main" id="{DAA93911-A43E-4450-9FE5-E2BB2E19652C}"/>
              </a:ext>
            </a:extLst>
          </p:cNvPr>
          <p:cNvSpPr>
            <a:spLocks xmlns:a="http://schemas.openxmlformats.org/drawingml/2006/main" noGrp="1"/>
          </p:cNvSpPr>
          <p:nvPr/>
        </p:nvSpPr>
        <p:spPr>
          <a:xfrm xmlns:a="http://schemas.openxmlformats.org/drawingml/2006/main">
            <a:off x="3048000" y="22098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Desktop web client and Spring Boot REST backend</a:t>
            </a:r>
          </a:p>
        </p:txBody>
      </p:sp>
      <p:sp>
        <p:nvSpPr>
          <p:cNvPr id="9" name="text-97q4lh">
            <a:extLst xmlns:a="http://schemas.openxmlformats.org/drawingml/2006/main">
              <a:ext uri="{FF2B5EF4-FFF2-40B4-BE49-F238E27FC236}">
                <a16:creationId xmlns:a16="http://schemas.microsoft.com/office/drawing/2014/main" id="{D4010E37-CA79-4137-9AED-6F53C5D375E0}"/>
              </a:ext>
            </a:extLst>
          </p:cNvPr>
          <p:cNvSpPr>
            <a:spLocks xmlns:a="http://schemas.openxmlformats.org/drawingml/2006/main" noGrp="1"/>
          </p:cNvSpPr>
          <p:nvPr/>
        </p:nvSpPr>
        <p:spPr>
          <a:xfrm xmlns:a="http://schemas.openxmlformats.org/drawingml/2006/main">
            <a:off x="552450" y="280035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D84A32"/>
                </a:solidFill>
                <a:latin typeface="Yu Gothic"/>
                <a:ea typeface="Yu Gothic"/>
                <a:cs typeface="Yu Gothic"/>
              </a:defRPr>
            </a:pPr>
            <a:r>
              <a:rPr sz="1650" b="1" i="0">
                <a:solidFill>
                  <a:srgbClr val="D84A32"/>
                </a:solidFill>
                <a:latin typeface="Yu Gothic"/>
                <a:ea typeface="Yu Gothic"/>
                <a:cs typeface="Yu Gothic"/>
              </a:rPr>
              <a:t>✓</a:t>
            </a:r>
          </a:p>
        </p:txBody>
      </p:sp>
      <p:sp>
        <p:nvSpPr>
          <p:cNvPr id="10" name="text-p5gnr0">
            <a:extLst xmlns:a="http://schemas.openxmlformats.org/drawingml/2006/main">
              <a:ext uri="{FF2B5EF4-FFF2-40B4-BE49-F238E27FC236}">
                <a16:creationId xmlns:a16="http://schemas.microsoft.com/office/drawing/2014/main" id="{D9559D17-528E-4491-BAEC-EF7DB87CD64A}"/>
              </a:ext>
            </a:extLst>
          </p:cNvPr>
          <p:cNvSpPr>
            <a:spLocks xmlns:a="http://schemas.openxmlformats.org/drawingml/2006/main" noGrp="1"/>
          </p:cNvSpPr>
          <p:nvPr/>
        </p:nvSpPr>
        <p:spPr>
          <a:xfrm xmlns:a="http://schemas.openxmlformats.org/drawingml/2006/main">
            <a:off x="971550" y="28194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TWO EXTERNAL APIS</a:t>
            </a:r>
          </a:p>
        </p:txBody>
      </p:sp>
      <p:sp>
        <p:nvSpPr>
          <p:cNvPr id="11" name="text-w49byd">
            <a:extLst xmlns:a="http://schemas.openxmlformats.org/drawingml/2006/main">
              <a:ext uri="{FF2B5EF4-FFF2-40B4-BE49-F238E27FC236}">
                <a16:creationId xmlns:a16="http://schemas.microsoft.com/office/drawing/2014/main" id="{B73BF20C-0C4C-43E9-BF87-968E9F6ABD93}"/>
              </a:ext>
            </a:extLst>
          </p:cNvPr>
          <p:cNvSpPr>
            <a:spLocks xmlns:a="http://schemas.openxmlformats.org/drawingml/2006/main" noGrp="1"/>
          </p:cNvSpPr>
          <p:nvPr/>
        </p:nvSpPr>
        <p:spPr>
          <a:xfrm xmlns:a="http://schemas.openxmlformats.org/drawingml/2006/main">
            <a:off x="3048000" y="28003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Open-Meteo and REST Countries</a:t>
            </a:r>
          </a:p>
        </p:txBody>
      </p:sp>
      <p:sp>
        <p:nvSpPr>
          <p:cNvPr id="12" name="text-4ssfv2">
            <a:extLst xmlns:a="http://schemas.openxmlformats.org/drawingml/2006/main">
              <a:ext uri="{FF2B5EF4-FFF2-40B4-BE49-F238E27FC236}">
                <a16:creationId xmlns:a16="http://schemas.microsoft.com/office/drawing/2014/main" id="{6F62E4AC-1418-4B1A-90A2-331702777823}"/>
              </a:ext>
            </a:extLst>
          </p:cNvPr>
          <p:cNvSpPr>
            <a:spLocks xmlns:a="http://schemas.openxmlformats.org/drawingml/2006/main" noGrp="1"/>
          </p:cNvSpPr>
          <p:nvPr/>
        </p:nvSpPr>
        <p:spPr>
          <a:xfrm xmlns:a="http://schemas.openxmlformats.org/drawingml/2006/main">
            <a:off x="552450" y="33909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D84A32"/>
                </a:solidFill>
                <a:latin typeface="Yu Gothic"/>
                <a:ea typeface="Yu Gothic"/>
                <a:cs typeface="Yu Gothic"/>
              </a:defRPr>
            </a:pPr>
            <a:r>
              <a:rPr sz="1650" b="1" i="0">
                <a:solidFill>
                  <a:srgbClr val="D84A32"/>
                </a:solidFill>
                <a:latin typeface="Yu Gothic"/>
                <a:ea typeface="Yu Gothic"/>
                <a:cs typeface="Yu Gothic"/>
              </a:rPr>
              <a:t>✓</a:t>
            </a:r>
          </a:p>
        </p:txBody>
      </p:sp>
      <p:sp>
        <p:nvSpPr>
          <p:cNvPr id="13" name="text-069vq6">
            <a:extLst xmlns:a="http://schemas.openxmlformats.org/drawingml/2006/main">
              <a:ext uri="{FF2B5EF4-FFF2-40B4-BE49-F238E27FC236}">
                <a16:creationId xmlns:a16="http://schemas.microsoft.com/office/drawing/2014/main" id="{07B36E8A-D87D-4C2F-A7BF-C2A8C780ABD5}"/>
              </a:ext>
            </a:extLst>
          </p:cNvPr>
          <p:cNvSpPr>
            <a:spLocks xmlns:a="http://schemas.openxmlformats.org/drawingml/2006/main" noGrp="1"/>
          </p:cNvSpPr>
          <p:nvPr/>
        </p:nvSpPr>
        <p:spPr>
          <a:xfrm xmlns:a="http://schemas.openxmlformats.org/drawingml/2006/main">
            <a:off x="971550" y="34099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ORIGINAL FEATURE</a:t>
            </a:r>
          </a:p>
        </p:txBody>
      </p:sp>
      <p:sp>
        <p:nvSpPr>
          <p:cNvPr id="14" name="text-44c7a2">
            <a:extLst xmlns:a="http://schemas.openxmlformats.org/drawingml/2006/main">
              <a:ext uri="{FF2B5EF4-FFF2-40B4-BE49-F238E27FC236}">
                <a16:creationId xmlns:a16="http://schemas.microsoft.com/office/drawing/2014/main" id="{FE7BB10E-A42D-458E-B7F4-D7FDF344528F}"/>
              </a:ext>
            </a:extLst>
          </p:cNvPr>
          <p:cNvSpPr>
            <a:spLocks xmlns:a="http://schemas.openxmlformats.org/drawingml/2006/main" noGrp="1"/>
          </p:cNvSpPr>
          <p:nvPr/>
        </p:nvSpPr>
        <p:spPr>
          <a:xfrm xmlns:a="http://schemas.openxmlformats.org/drawingml/2006/main">
            <a:off x="3048000" y="33909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Context-aware daily information and advice</a:t>
            </a:r>
          </a:p>
        </p:txBody>
      </p:sp>
      <p:sp>
        <p:nvSpPr>
          <p:cNvPr id="15" name="text-4nuj72">
            <a:extLst xmlns:a="http://schemas.openxmlformats.org/drawingml/2006/main">
              <a:ext uri="{FF2B5EF4-FFF2-40B4-BE49-F238E27FC236}">
                <a16:creationId xmlns:a16="http://schemas.microsoft.com/office/drawing/2014/main" id="{9333CAB9-1674-427E-9750-288CFBB5C1F0}"/>
              </a:ext>
            </a:extLst>
          </p:cNvPr>
          <p:cNvSpPr>
            <a:spLocks xmlns:a="http://schemas.openxmlformats.org/drawingml/2006/main" noGrp="1"/>
          </p:cNvSpPr>
          <p:nvPr/>
        </p:nvSpPr>
        <p:spPr>
          <a:xfrm xmlns:a="http://schemas.openxmlformats.org/drawingml/2006/main">
            <a:off x="552450" y="398145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D84A32"/>
                </a:solidFill>
                <a:latin typeface="Yu Gothic"/>
                <a:ea typeface="Yu Gothic"/>
                <a:cs typeface="Yu Gothic"/>
              </a:defRPr>
            </a:pPr>
            <a:r>
              <a:rPr sz="1650" b="1" i="0">
                <a:solidFill>
                  <a:srgbClr val="D84A32"/>
                </a:solidFill>
                <a:latin typeface="Yu Gothic"/>
                <a:ea typeface="Yu Gothic"/>
                <a:cs typeface="Yu Gothic"/>
              </a:rPr>
              <a:t>✓</a:t>
            </a:r>
          </a:p>
        </p:txBody>
      </p:sp>
      <p:sp>
        <p:nvSpPr>
          <p:cNvPr id="16" name="text-gprh9t">
            <a:extLst xmlns:a="http://schemas.openxmlformats.org/drawingml/2006/main">
              <a:ext uri="{FF2B5EF4-FFF2-40B4-BE49-F238E27FC236}">
                <a16:creationId xmlns:a16="http://schemas.microsoft.com/office/drawing/2014/main" id="{8472BCC8-FD77-4C80-8013-9FA99DEED461}"/>
              </a:ext>
            </a:extLst>
          </p:cNvPr>
          <p:cNvSpPr>
            <a:spLocks xmlns:a="http://schemas.openxmlformats.org/drawingml/2006/main" noGrp="1"/>
          </p:cNvSpPr>
          <p:nvPr/>
        </p:nvSpPr>
        <p:spPr>
          <a:xfrm xmlns:a="http://schemas.openxmlformats.org/drawingml/2006/main">
            <a:off x="971550" y="40005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SECURITY + AUTH</a:t>
            </a:r>
          </a:p>
        </p:txBody>
      </p:sp>
      <p:sp>
        <p:nvSpPr>
          <p:cNvPr id="17" name="text-8iyayr">
            <a:extLst xmlns:a="http://schemas.openxmlformats.org/drawingml/2006/main">
              <a:ext uri="{FF2B5EF4-FFF2-40B4-BE49-F238E27FC236}">
                <a16:creationId xmlns:a16="http://schemas.microsoft.com/office/drawing/2014/main" id="{7AF690E8-0A86-4450-ABAB-7771F9940A6E}"/>
              </a:ext>
            </a:extLst>
          </p:cNvPr>
          <p:cNvSpPr>
            <a:spLocks xmlns:a="http://schemas.openxmlformats.org/drawingml/2006/main" noGrp="1"/>
          </p:cNvSpPr>
          <p:nvPr/>
        </p:nvSpPr>
        <p:spPr>
          <a:xfrm xmlns:a="http://schemas.openxmlformats.org/drawingml/2006/main">
            <a:off x="3048000" y="39814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BCrypt, cookies, CSRF, roles, ownership</a:t>
            </a:r>
          </a:p>
        </p:txBody>
      </p:sp>
      <p:sp>
        <p:nvSpPr>
          <p:cNvPr id="18" name="text-gwcwoz">
            <a:extLst xmlns:a="http://schemas.openxmlformats.org/drawingml/2006/main">
              <a:ext uri="{FF2B5EF4-FFF2-40B4-BE49-F238E27FC236}">
                <a16:creationId xmlns:a16="http://schemas.microsoft.com/office/drawing/2014/main" id="{35BC8D58-9631-4453-9C5C-3F74BC62311F}"/>
              </a:ext>
            </a:extLst>
          </p:cNvPr>
          <p:cNvSpPr>
            <a:spLocks xmlns:a="http://schemas.openxmlformats.org/drawingml/2006/main" noGrp="1"/>
          </p:cNvSpPr>
          <p:nvPr/>
        </p:nvSpPr>
        <p:spPr>
          <a:xfrm xmlns:a="http://schemas.openxmlformats.org/drawingml/2006/main">
            <a:off x="552450" y="45720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D84A32"/>
                </a:solidFill>
                <a:latin typeface="Yu Gothic"/>
                <a:ea typeface="Yu Gothic"/>
                <a:cs typeface="Yu Gothic"/>
              </a:defRPr>
            </a:pPr>
            <a:r>
              <a:rPr sz="1650" b="1" i="0">
                <a:solidFill>
                  <a:srgbClr val="D84A32"/>
                </a:solidFill>
                <a:latin typeface="Yu Gothic"/>
                <a:ea typeface="Yu Gothic"/>
                <a:cs typeface="Yu Gothic"/>
              </a:rPr>
              <a:t>✓</a:t>
            </a:r>
          </a:p>
        </p:txBody>
      </p:sp>
      <p:sp>
        <p:nvSpPr>
          <p:cNvPr id="19" name="text-ueoig5">
            <a:extLst xmlns:a="http://schemas.openxmlformats.org/drawingml/2006/main">
              <a:ext uri="{FF2B5EF4-FFF2-40B4-BE49-F238E27FC236}">
                <a16:creationId xmlns:a16="http://schemas.microsoft.com/office/drawing/2014/main" id="{F1CACDE0-F2F6-4578-BFC8-C5268A901576}"/>
              </a:ext>
            </a:extLst>
          </p:cNvPr>
          <p:cNvSpPr>
            <a:spLocks xmlns:a="http://schemas.openxmlformats.org/drawingml/2006/main" noGrp="1"/>
          </p:cNvSpPr>
          <p:nvPr/>
        </p:nvSpPr>
        <p:spPr>
          <a:xfrm xmlns:a="http://schemas.openxmlformats.org/drawingml/2006/main">
            <a:off x="971550" y="45910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STORAGE + CLOUD</a:t>
            </a:r>
          </a:p>
        </p:txBody>
      </p:sp>
      <p:sp>
        <p:nvSpPr>
          <p:cNvPr id="20" name="text-g0ska2">
            <a:extLst xmlns:a="http://schemas.openxmlformats.org/drawingml/2006/main">
              <a:ext uri="{FF2B5EF4-FFF2-40B4-BE49-F238E27FC236}">
                <a16:creationId xmlns:a16="http://schemas.microsoft.com/office/drawing/2014/main" id="{897F5E7F-9762-4E49-8E5A-D92FABB79B64}"/>
              </a:ext>
            </a:extLst>
          </p:cNvPr>
          <p:cNvSpPr>
            <a:spLocks xmlns:a="http://schemas.openxmlformats.org/drawingml/2006/main" noGrp="1"/>
          </p:cNvSpPr>
          <p:nvPr/>
        </p:nvSpPr>
        <p:spPr>
          <a:xfrm xmlns:a="http://schemas.openxmlformats.org/drawingml/2006/main">
            <a:off x="3048000" y="45720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MySQL locally; persistent H2 on Azure</a:t>
            </a:r>
          </a:p>
        </p:txBody>
      </p:sp>
      <p:sp>
        <p:nvSpPr>
          <p:cNvPr id="21" name="text-8jy6gd">
            <a:extLst xmlns:a="http://schemas.openxmlformats.org/drawingml/2006/main">
              <a:ext uri="{FF2B5EF4-FFF2-40B4-BE49-F238E27FC236}">
                <a16:creationId xmlns:a16="http://schemas.microsoft.com/office/drawing/2014/main" id="{2A6613B3-F43F-4164-A756-C36B0300241D}"/>
              </a:ext>
            </a:extLst>
          </p:cNvPr>
          <p:cNvSpPr>
            <a:spLocks xmlns:a="http://schemas.openxmlformats.org/drawingml/2006/main" noGrp="1"/>
          </p:cNvSpPr>
          <p:nvPr/>
        </p:nvSpPr>
        <p:spPr>
          <a:xfrm xmlns:a="http://schemas.openxmlformats.org/drawingml/2006/main">
            <a:off x="552450" y="516255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D84A32"/>
                </a:solidFill>
                <a:latin typeface="Yu Gothic"/>
                <a:ea typeface="Yu Gothic"/>
                <a:cs typeface="Yu Gothic"/>
              </a:defRPr>
            </a:pPr>
            <a:r>
              <a:rPr sz="1650" b="1" i="0">
                <a:solidFill>
                  <a:srgbClr val="D84A32"/>
                </a:solidFill>
                <a:latin typeface="Yu Gothic"/>
                <a:ea typeface="Yu Gothic"/>
                <a:cs typeface="Yu Gothic"/>
              </a:rPr>
              <a:t>✓</a:t>
            </a:r>
          </a:p>
        </p:txBody>
      </p:sp>
      <p:sp>
        <p:nvSpPr>
          <p:cNvPr id="22" name="text-cziplm">
            <a:extLst xmlns:a="http://schemas.openxmlformats.org/drawingml/2006/main">
              <a:ext uri="{FF2B5EF4-FFF2-40B4-BE49-F238E27FC236}">
                <a16:creationId xmlns:a16="http://schemas.microsoft.com/office/drawing/2014/main" id="{B2FE9AF2-1BE5-42FC-9F53-D67124963DFF}"/>
              </a:ext>
            </a:extLst>
          </p:cNvPr>
          <p:cNvSpPr>
            <a:spLocks xmlns:a="http://schemas.openxmlformats.org/drawingml/2006/main" noGrp="1"/>
          </p:cNvSpPr>
          <p:nvPr/>
        </p:nvSpPr>
        <p:spPr>
          <a:xfrm xmlns:a="http://schemas.openxmlformats.org/drawingml/2006/main">
            <a:off x="971550" y="51816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RUNNABLE DELIVERY</a:t>
            </a:r>
          </a:p>
        </p:txBody>
      </p:sp>
      <p:sp>
        <p:nvSpPr>
          <p:cNvPr id="23" name="text-q92z0v">
            <a:extLst xmlns:a="http://schemas.openxmlformats.org/drawingml/2006/main">
              <a:ext uri="{FF2B5EF4-FFF2-40B4-BE49-F238E27FC236}">
                <a16:creationId xmlns:a16="http://schemas.microsoft.com/office/drawing/2014/main" id="{05D9942C-F08F-4C19-8DA4-3F210BBAEAE2}"/>
              </a:ext>
            </a:extLst>
          </p:cNvPr>
          <p:cNvSpPr>
            <a:spLocks xmlns:a="http://schemas.openxmlformats.org/drawingml/2006/main" noGrp="1"/>
          </p:cNvSpPr>
          <p:nvPr/>
        </p:nvSpPr>
        <p:spPr>
          <a:xfrm xmlns:a="http://schemas.openxmlformats.org/drawingml/2006/main">
            <a:off x="3048000" y="5162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4D4942"/>
                </a:solidFill>
                <a:latin typeface="Yu Gothic"/>
                <a:ea typeface="Yu Gothic"/>
                <a:cs typeface="Yu Gothic"/>
              </a:defRPr>
            </a:pPr>
            <a:r>
              <a:rPr sz="1200" b="0" i="0">
                <a:solidFill>
                  <a:srgbClr val="4D4942"/>
                </a:solidFill>
                <a:latin typeface="Yu Gothic"/>
                <a:ea typeface="Yu Gothic"/>
                <a:cs typeface="Yu Gothic"/>
              </a:rPr>
              <a:t>Source, JAR, Docker image, and presentation</a:t>
            </a:r>
          </a:p>
        </p:txBody>
      </p:sp>
      <p:sp>
        <p:nvSpPr>
          <p:cNvPr id="24" name="paper-frame-Course requirements screenshot.png">
            <a:extLst xmlns:a="http://schemas.openxmlformats.org/drawingml/2006/main">
              <a:ext uri="{FF2B5EF4-FFF2-40B4-BE49-F238E27FC236}">
                <a16:creationId xmlns:a16="http://schemas.microsoft.com/office/drawing/2014/main" id="{09576A7F-2EC8-4CAC-B863-68BC2B7F1EBD}"/>
              </a:ext>
            </a:extLst>
          </p:cNvPr>
          <p:cNvSpPr>
            <a:spLocks xmlns:a="http://schemas.openxmlformats.org/drawingml/2006/main" noGrp="1"/>
          </p:cNvSpPr>
          <p:nvPr/>
        </p:nvSpPr>
        <p:spPr>
          <a:xfrm xmlns:a="http://schemas.openxmlformats.org/drawingml/2006/main" rot="0">
            <a:off x="7620000" y="1809750"/>
            <a:ext cx="4000500" cy="363855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770fac5fe9ab4a43"/>
          <a:stretch xmlns:a="http://schemas.openxmlformats.org/drawingml/2006/main"/>
        </p:blipFill>
        <p:spPr>
          <a:xfrm xmlns:a="http://schemas.openxmlformats.org/drawingml/2006/main">
            <a:off x="7696200" y="2269532"/>
            <a:ext cx="3848100" cy="2566587"/>
          </a:xfrm>
          <a:prstGeom xmlns:a="http://schemas.openxmlformats.org/drawingml/2006/main" prst="rect">
            <a:avLst/>
          </a:prstGeom>
        </p:spPr>
      </p:pic>
      <p:sp>
        <p:nvSpPr>
          <p:cNvPr id="26" name="text-xk9z6g">
            <a:extLst xmlns:a="http://schemas.openxmlformats.org/drawingml/2006/main">
              <a:ext uri="{FF2B5EF4-FFF2-40B4-BE49-F238E27FC236}">
                <a16:creationId xmlns:a16="http://schemas.microsoft.com/office/drawing/2014/main" id="{3DB8E2C1-AF54-468E-9093-53F5E7C5032F}"/>
              </a:ext>
            </a:extLst>
          </p:cNvPr>
          <p:cNvSpPr>
            <a:spLocks xmlns:a="http://schemas.openxmlformats.org/drawingml/2006/main" noGrp="1"/>
          </p:cNvSpPr>
          <p:nvPr/>
        </p:nvSpPr>
        <p:spPr>
          <a:xfrm xmlns:a="http://schemas.openxmlformats.org/drawingml/2006/main">
            <a:off x="7734300" y="55626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975" b="0" i="1">
                <a:solidFill>
                  <a:srgbClr val="7D776D"/>
                </a:solidFill>
                <a:latin typeface="Yu Gothic"/>
                <a:ea typeface="Yu Gothic"/>
                <a:cs typeface="Yu Gothic"/>
              </a:defRPr>
            </a:pPr>
            <a:r>
              <a:rPr sz="975" b="0" i="1">
                <a:solidFill>
                  <a:srgbClr val="7D776D"/>
                </a:solidFill>
                <a:latin typeface="Yu Gothic"/>
                <a:ea typeface="Yu Gothic"/>
                <a:cs typeface="Yu Gothic"/>
              </a:rPr>
              <a:t>Submission: complete project, runnable binary, and presentation slides.</a:t>
            </a:r>
          </a:p>
        </p:txBody>
      </p:sp>
    </p:spTree>
    <p:extLst>
      <p:ext uri="{BB962C8B-B14F-4D97-AF65-F5344CB8AC3E}">
        <p14:creationId xmlns:p14="http://schemas.microsoft.com/office/powerpoint/2010/main" val="1673396712"/>
      </p:ext>
    </p:extLst>
  </p:cSld>
</p:sld>
</file>

<file path=ppt/slides/slide14.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sp>
        <p:nvSpPr>
          <p:cNvPr id="18" name="rule-52-42">
            <a:extLst xmlns:a="http://schemas.openxmlformats.org/drawingml/2006/main">
              <a:ext uri="{FF2B5EF4-FFF2-40B4-BE49-F238E27FC236}">
                <a16:creationId xmlns:a16="http://schemas.microsoft.com/office/drawing/2014/main" id="{11F5B540-FEA2-48E8-8366-974A93673EE4}"/>
              </a:ext>
            </a:extLst>
          </p:cNvPr>
          <p:cNvSpPr>
            <a:spLocks xmlns:a="http://schemas.openxmlformats.org/drawingml/2006/main" noGrp="1"/>
          </p:cNvSpPr>
          <p:nvPr/>
        </p:nvSpPr>
        <p:spPr>
          <a:xfrm xmlns:a="http://schemas.openxmlformats.org/drawingml/2006/main">
            <a:off x="495300" y="400050"/>
            <a:ext cx="28575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2" name="text-ucr72w">
            <a:extLst xmlns:a="http://schemas.openxmlformats.org/drawingml/2006/main">
              <a:ext uri="{FF2B5EF4-FFF2-40B4-BE49-F238E27FC236}">
                <a16:creationId xmlns:a16="http://schemas.microsoft.com/office/drawing/2014/main" id="{88FB20E1-EA93-4CBE-9E71-959D4E9AFECA}"/>
              </a:ext>
            </a:extLst>
          </p:cNvPr>
          <p:cNvSpPr>
            <a:spLocks xmlns:a="http://schemas.openxmlformats.org/drawingml/2006/main" noGrp="1"/>
          </p:cNvSpPr>
          <p:nvPr/>
        </p:nvSpPr>
        <p:spPr>
          <a:xfrm xmlns:a="http://schemas.openxmlformats.org/drawingml/2006/main">
            <a:off x="895350" y="31432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71613"/>
                </a:solidFill>
                <a:latin typeface="Consolas"/>
                <a:ea typeface="Consolas"/>
                <a:cs typeface="Consolas"/>
              </a:defRPr>
            </a:pPr>
            <a:r>
              <a:rPr sz="900" b="1" i="0">
                <a:solidFill>
                  <a:srgbClr val="171613"/>
                </a:solidFill>
                <a:latin typeface="Consolas"/>
                <a:ea typeface="Consolas"/>
                <a:cs typeface="Consolas"/>
              </a:rPr>
              <a:t>FUTURE DEVELOPMENT</a:t>
            </a:r>
          </a:p>
        </p:txBody>
      </p:sp>
      <p:sp>
        <p:nvSpPr>
          <p:cNvPr id="3" name="rule-52-675">
            <a:extLst xmlns:a="http://schemas.openxmlformats.org/drawingml/2006/main">
              <a:ext uri="{FF2B5EF4-FFF2-40B4-BE49-F238E27FC236}">
                <a16:creationId xmlns:a16="http://schemas.microsoft.com/office/drawing/2014/main" id="{A680A5FC-64CF-47D9-BDD7-1CCB613837F8}"/>
              </a:ext>
            </a:extLst>
          </p:cNvPr>
          <p:cNvSpPr>
            <a:spLocks xmlns:a="http://schemas.openxmlformats.org/drawingml/2006/main" noGrp="1"/>
          </p:cNvSpPr>
          <p:nvPr/>
        </p:nvSpPr>
        <p:spPr>
          <a:xfrm xmlns:a="http://schemas.openxmlformats.org/drawingml/2006/main">
            <a:off x="495300" y="6429375"/>
            <a:ext cx="1120140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4" name="text-x2rrra">
            <a:extLst xmlns:a="http://schemas.openxmlformats.org/drawingml/2006/main">
              <a:ext uri="{FF2B5EF4-FFF2-40B4-BE49-F238E27FC236}">
                <a16:creationId xmlns:a16="http://schemas.microsoft.com/office/drawing/2014/main" id="{A90A4CBA-A860-4AF0-B89C-1B8D821EDC3B}"/>
              </a:ext>
            </a:extLst>
          </p:cNvPr>
          <p:cNvSpPr>
            <a:spLocks xmlns:a="http://schemas.openxmlformats.org/drawingml/2006/main" noGrp="1"/>
          </p:cNvSpPr>
          <p:nvPr/>
        </p:nvSpPr>
        <p:spPr>
          <a:xfrm xmlns:a="http://schemas.openxmlformats.org/drawingml/2006/main">
            <a:off x="11182350" y="65055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7D776D"/>
                </a:solidFill>
                <a:latin typeface="Consolas"/>
                <a:ea typeface="Consolas"/>
                <a:cs typeface="Consolas"/>
              </a:defRPr>
            </a:pPr>
            <a:r>
              <a:rPr sz="750" b="0" i="0">
                <a:solidFill>
                  <a:srgbClr val="7D776D"/>
                </a:solidFill>
                <a:latin typeface="Consolas"/>
                <a:ea typeface="Consolas"/>
                <a:cs typeface="Consolas"/>
              </a:rPr>
              <a:t>14</a:t>
            </a:r>
          </a:p>
        </p:txBody>
      </p:sp>
      <p:sp>
        <p:nvSpPr>
          <p:cNvPr id="5" name="paper-frame-Cat sitting on outdoor steps">
            <a:extLst xmlns:a="http://schemas.openxmlformats.org/drawingml/2006/main">
              <a:ext uri="{FF2B5EF4-FFF2-40B4-BE49-F238E27FC236}">
                <a16:creationId xmlns:a16="http://schemas.microsoft.com/office/drawing/2014/main" id="{64986C51-52AB-4DCC-AD74-6EC0D9F2F37C}"/>
              </a:ext>
            </a:extLst>
          </p:cNvPr>
          <p:cNvSpPr>
            <a:spLocks xmlns:a="http://schemas.openxmlformats.org/drawingml/2006/main" noGrp="1"/>
          </p:cNvSpPr>
          <p:nvPr/>
        </p:nvSpPr>
        <p:spPr>
          <a:xfrm xmlns:a="http://schemas.openxmlformats.org/drawingml/2006/main" rot="-90000">
            <a:off x="476250" y="819150"/>
            <a:ext cx="3867150" cy="5067300"/>
          </a:xfrm>
          <a:prstGeom xmlns:a="http://schemas.openxmlformats.org/drawingml/2006/main" prst="rect">
            <a:avLst/>
          </a:prstGeom>
          <a:solidFill xmlns:a="http://schemas.openxmlformats.org/drawingml/2006/main">
            <a:srgbClr val="FBF8F1"/>
          </a:solidFill>
          <a:ln xmlns:a="http://schemas.openxmlformats.org/drawingml/2006/main" w="9525">
            <a:solidFill>
              <a:srgbClr val="17161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398b95980dd46bd"/>
          <a:srcRect xmlns:a="http://schemas.openxmlformats.org/drawingml/2006/main" l="0" t="1904" r="0" b="1904"/>
          <a:stretch xmlns:a="http://schemas.openxmlformats.org/drawingml/2006/main">
            <a:fillRect l="0" t="0" r="0" b="0"/>
          </a:stretch>
        </p:blipFill>
        <p:spPr>
          <a:xfrm xmlns:a="http://schemas.openxmlformats.org/drawingml/2006/main" rot="-90000">
            <a:off x="552450" y="895350"/>
            <a:ext cx="3714750" cy="4762500"/>
          </a:xfrm>
          <a:prstGeom xmlns:a="http://schemas.openxmlformats.org/drawingml/2006/main" prst="rect">
            <a:avLst/>
          </a:prstGeom>
        </p:spPr>
      </p:pic>
      <p:sp>
        <p:nvSpPr>
          <p:cNvPr id="7" name="text-m6qa1v">
            <a:extLst xmlns:a="http://schemas.openxmlformats.org/drawingml/2006/main">
              <a:ext uri="{FF2B5EF4-FFF2-40B4-BE49-F238E27FC236}">
                <a16:creationId xmlns:a16="http://schemas.microsoft.com/office/drawing/2014/main" id="{41808293-A92D-41B3-A6F0-5223155F1D17}"/>
              </a:ext>
            </a:extLst>
          </p:cNvPr>
          <p:cNvSpPr>
            <a:spLocks xmlns:a="http://schemas.openxmlformats.org/drawingml/2006/main" noGrp="1"/>
          </p:cNvSpPr>
          <p:nvPr/>
        </p:nvSpPr>
        <p:spPr>
          <a:xfrm xmlns:a="http://schemas.openxmlformats.org/drawingml/2006/main">
            <a:off x="4953000" y="914400"/>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600" b="0" i="0">
                <a:solidFill>
                  <a:srgbClr val="171613"/>
                </a:solidFill>
                <a:latin typeface="Georgia"/>
                <a:ea typeface="Georgia"/>
                <a:cs typeface="Georgia"/>
              </a:defRPr>
            </a:pPr>
            <a:r>
              <a:rPr sz="3600" b="0" i="0">
                <a:solidFill>
                  <a:srgbClr val="171613"/>
                </a:solidFill>
                <a:latin typeface="Georgia"/>
                <a:ea typeface="Georgia"/>
                <a:cs typeface="Georgia"/>
              </a:rPr>
              <a:t>Next: discovery</a:t>
            </a:r>
          </a:p>
          <a:p xmlns:a="http://schemas.openxmlformats.org/drawingml/2006/main">
            <a:pPr algn="l">
              <a:lnSpc>
                <a:spcPct val="98000"/>
              </a:lnSpc>
              <a:buNone/>
              <a:defRPr sz="3600" b="0" i="0">
                <a:solidFill>
                  <a:srgbClr val="171613"/>
                </a:solidFill>
                <a:latin typeface="Georgia"/>
                <a:ea typeface="Georgia"/>
                <a:cs typeface="Georgia"/>
              </a:defRPr>
            </a:pPr>
            <a:r>
              <a:rPr sz="3600" b="0" i="0">
                <a:solidFill>
                  <a:srgbClr val="171613"/>
                </a:solidFill>
                <a:latin typeface="Georgia"/>
                <a:ea typeface="Georgia"/>
                <a:cs typeface="Georgia"/>
              </a:rPr>
              <a:t>around the work.</a:t>
            </a:r>
          </a:p>
        </p:txBody>
      </p:sp>
      <p:sp>
        <p:nvSpPr>
          <p:cNvPr id="8" name="text-huu2uu">
            <a:extLst xmlns:a="http://schemas.openxmlformats.org/drawingml/2006/main">
              <a:ext uri="{FF2B5EF4-FFF2-40B4-BE49-F238E27FC236}">
                <a16:creationId xmlns:a16="http://schemas.microsoft.com/office/drawing/2014/main" id="{FC74727E-F652-4ABC-B637-766A10395952}"/>
              </a:ext>
            </a:extLst>
          </p:cNvPr>
          <p:cNvSpPr>
            <a:spLocks xmlns:a="http://schemas.openxmlformats.org/drawingml/2006/main" noGrp="1"/>
          </p:cNvSpPr>
          <p:nvPr/>
        </p:nvSpPr>
        <p:spPr>
          <a:xfrm xmlns:a="http://schemas.openxmlformats.org/drawingml/2006/main">
            <a:off x="4991100" y="2286000"/>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A82F22"/>
                </a:solidFill>
                <a:latin typeface="Consolas"/>
                <a:ea typeface="Consolas"/>
                <a:cs typeface="Consolas"/>
              </a:defRPr>
            </a:pPr>
            <a:r>
              <a:rPr sz="900" b="1" i="0">
                <a:solidFill>
                  <a:srgbClr val="A82F22"/>
                </a:solidFill>
                <a:latin typeface="Consolas"/>
                <a:ea typeface="Consolas"/>
                <a:cs typeface="Consolas"/>
              </a:rPr>
              <a:t>ROADMAP — NOT INCLUDED IN THE CURRENT RELEASE</a:t>
            </a:r>
          </a:p>
        </p:txBody>
      </p:sp>
      <p:sp>
        <p:nvSpPr>
          <p:cNvPr id="9" name="text-5fbx2p">
            <a:extLst xmlns:a="http://schemas.openxmlformats.org/drawingml/2006/main">
              <a:ext uri="{FF2B5EF4-FFF2-40B4-BE49-F238E27FC236}">
                <a16:creationId xmlns:a16="http://schemas.microsoft.com/office/drawing/2014/main" id="{698712C2-0EA8-4839-B1CF-4A2F6DA123D5}"/>
              </a:ext>
            </a:extLst>
          </p:cNvPr>
          <p:cNvSpPr>
            <a:spLocks xmlns:a="http://schemas.openxmlformats.org/drawingml/2006/main" noGrp="1"/>
          </p:cNvSpPr>
          <p:nvPr/>
        </p:nvSpPr>
        <p:spPr>
          <a:xfrm xmlns:a="http://schemas.openxmlformats.org/drawingml/2006/main">
            <a:off x="4991100" y="29527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01</a:t>
            </a:r>
          </a:p>
        </p:txBody>
      </p:sp>
      <p:sp>
        <p:nvSpPr>
          <p:cNvPr id="10" name="text-vril1z">
            <a:extLst xmlns:a="http://schemas.openxmlformats.org/drawingml/2006/main">
              <a:ext uri="{FF2B5EF4-FFF2-40B4-BE49-F238E27FC236}">
                <a16:creationId xmlns:a16="http://schemas.microsoft.com/office/drawing/2014/main" id="{6B6B4D9B-4E47-44FC-BD4C-73D068904403}"/>
              </a:ext>
            </a:extLst>
          </p:cNvPr>
          <p:cNvSpPr>
            <a:spLocks xmlns:a="http://schemas.openxmlformats.org/drawingml/2006/main" noGrp="1"/>
          </p:cNvSpPr>
          <p:nvPr/>
        </p:nvSpPr>
        <p:spPr>
          <a:xfrm xmlns:a="http://schemas.openxmlformats.org/drawingml/2006/main">
            <a:off x="5429250" y="2924175"/>
            <a:ext cx="527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Shareable creator pages</a:t>
            </a:r>
          </a:p>
        </p:txBody>
      </p:sp>
      <p:sp>
        <p:nvSpPr>
          <p:cNvPr id="11" name="text-jz8260">
            <a:extLst xmlns:a="http://schemas.openxmlformats.org/drawingml/2006/main">
              <a:ext uri="{FF2B5EF4-FFF2-40B4-BE49-F238E27FC236}">
                <a16:creationId xmlns:a16="http://schemas.microsoft.com/office/drawing/2014/main" id="{012E1C9A-D16D-4855-BBF1-E91B3D2223A1}"/>
              </a:ext>
            </a:extLst>
          </p:cNvPr>
          <p:cNvSpPr>
            <a:spLocks xmlns:a="http://schemas.openxmlformats.org/drawingml/2006/main" noGrp="1"/>
          </p:cNvSpPr>
          <p:nvPr/>
        </p:nvSpPr>
        <p:spPr>
          <a:xfrm xmlns:a="http://schemas.openxmlformats.org/drawingml/2006/main">
            <a:off x="5429250" y="3238500"/>
            <a:ext cx="5276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Stable public links for individual exhibitions.</a:t>
            </a:r>
          </a:p>
        </p:txBody>
      </p:sp>
      <p:sp>
        <p:nvSpPr>
          <p:cNvPr id="12" name="text-w5vl0e">
            <a:extLst xmlns:a="http://schemas.openxmlformats.org/drawingml/2006/main">
              <a:ext uri="{FF2B5EF4-FFF2-40B4-BE49-F238E27FC236}">
                <a16:creationId xmlns:a16="http://schemas.microsoft.com/office/drawing/2014/main" id="{4168AAF1-E2BA-46AF-8B52-209819F0050E}"/>
              </a:ext>
            </a:extLst>
          </p:cNvPr>
          <p:cNvSpPr>
            <a:spLocks xmlns:a="http://schemas.openxmlformats.org/drawingml/2006/main" noGrp="1"/>
          </p:cNvSpPr>
          <p:nvPr/>
        </p:nvSpPr>
        <p:spPr>
          <a:xfrm xmlns:a="http://schemas.openxmlformats.org/drawingml/2006/main">
            <a:off x="4991100" y="40005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02</a:t>
            </a:r>
          </a:p>
        </p:txBody>
      </p:sp>
      <p:sp>
        <p:nvSpPr>
          <p:cNvPr id="13" name="text-f743qj">
            <a:extLst xmlns:a="http://schemas.openxmlformats.org/drawingml/2006/main">
              <a:ext uri="{FF2B5EF4-FFF2-40B4-BE49-F238E27FC236}">
                <a16:creationId xmlns:a16="http://schemas.microsoft.com/office/drawing/2014/main" id="{074288BA-A963-4BD4-9AE5-F3463093B0AF}"/>
              </a:ext>
            </a:extLst>
          </p:cNvPr>
          <p:cNvSpPr>
            <a:spLocks xmlns:a="http://schemas.openxmlformats.org/drawingml/2006/main" noGrp="1"/>
          </p:cNvSpPr>
          <p:nvPr/>
        </p:nvSpPr>
        <p:spPr>
          <a:xfrm xmlns:a="http://schemas.openxmlformats.org/drawingml/2006/main">
            <a:off x="5429250" y="3971925"/>
            <a:ext cx="527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Tags and discovery</a:t>
            </a:r>
          </a:p>
        </p:txBody>
      </p:sp>
      <p:sp>
        <p:nvSpPr>
          <p:cNvPr id="14" name="text-23udrn">
            <a:extLst xmlns:a="http://schemas.openxmlformats.org/drawingml/2006/main">
              <a:ext uri="{FF2B5EF4-FFF2-40B4-BE49-F238E27FC236}">
                <a16:creationId xmlns:a16="http://schemas.microsoft.com/office/drawing/2014/main" id="{D4CFFBC8-F2B6-44C3-9AEC-9F0DC61166D5}"/>
              </a:ext>
            </a:extLst>
          </p:cNvPr>
          <p:cNvSpPr>
            <a:spLocks xmlns:a="http://schemas.openxmlformats.org/drawingml/2006/main" noGrp="1"/>
          </p:cNvSpPr>
          <p:nvPr/>
        </p:nvSpPr>
        <p:spPr>
          <a:xfrm xmlns:a="http://schemas.openxmlformats.org/drawingml/2006/main">
            <a:off x="5429250" y="4286250"/>
            <a:ext cx="5276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Browse work by medium, location, season, or topic.</a:t>
            </a:r>
          </a:p>
        </p:txBody>
      </p:sp>
      <p:sp>
        <p:nvSpPr>
          <p:cNvPr id="15" name="text-jki3ko">
            <a:extLst xmlns:a="http://schemas.openxmlformats.org/drawingml/2006/main">
              <a:ext uri="{FF2B5EF4-FFF2-40B4-BE49-F238E27FC236}">
                <a16:creationId xmlns:a16="http://schemas.microsoft.com/office/drawing/2014/main" id="{271FA081-F235-4E9E-AA47-3B03CD66A07E}"/>
              </a:ext>
            </a:extLst>
          </p:cNvPr>
          <p:cNvSpPr>
            <a:spLocks xmlns:a="http://schemas.openxmlformats.org/drawingml/2006/main" noGrp="1"/>
          </p:cNvSpPr>
          <p:nvPr/>
        </p:nvSpPr>
        <p:spPr>
          <a:xfrm xmlns:a="http://schemas.openxmlformats.org/drawingml/2006/main">
            <a:off x="4991100" y="50482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D84A32"/>
                </a:solidFill>
                <a:latin typeface="Consolas"/>
                <a:ea typeface="Consolas"/>
                <a:cs typeface="Consolas"/>
              </a:defRPr>
            </a:pPr>
            <a:r>
              <a:rPr sz="825" b="1" i="0">
                <a:solidFill>
                  <a:srgbClr val="D84A32"/>
                </a:solidFill>
                <a:latin typeface="Consolas"/>
                <a:ea typeface="Consolas"/>
                <a:cs typeface="Consolas"/>
              </a:rPr>
              <a:t>03</a:t>
            </a:r>
          </a:p>
        </p:txBody>
      </p:sp>
      <p:sp>
        <p:nvSpPr>
          <p:cNvPr id="16" name="text-g3f2qv">
            <a:extLst xmlns:a="http://schemas.openxmlformats.org/drawingml/2006/main">
              <a:ext uri="{FF2B5EF4-FFF2-40B4-BE49-F238E27FC236}">
                <a16:creationId xmlns:a16="http://schemas.microsoft.com/office/drawing/2014/main" id="{2CA4D9A8-E861-441C-84B5-B95AB619B0CA}"/>
              </a:ext>
            </a:extLst>
          </p:cNvPr>
          <p:cNvSpPr>
            <a:spLocks xmlns:a="http://schemas.openxmlformats.org/drawingml/2006/main" noGrp="1"/>
          </p:cNvSpPr>
          <p:nvPr/>
        </p:nvSpPr>
        <p:spPr>
          <a:xfrm xmlns:a="http://schemas.openxmlformats.org/drawingml/2006/main">
            <a:off x="5429250" y="5019675"/>
            <a:ext cx="527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71613"/>
                </a:solidFill>
                <a:latin typeface="Yu Gothic"/>
                <a:ea typeface="Yu Gothic"/>
                <a:cs typeface="Yu Gothic"/>
              </a:defRPr>
            </a:pPr>
            <a:r>
              <a:rPr sz="1425" b="1" i="0">
                <a:solidFill>
                  <a:srgbClr val="171613"/>
                </a:solidFill>
                <a:latin typeface="Yu Gothic"/>
                <a:ea typeface="Yu Gothic"/>
                <a:cs typeface="Yu Gothic"/>
              </a:rPr>
              <a:t>Conversation</a:t>
            </a:r>
          </a:p>
        </p:txBody>
      </p:sp>
      <p:sp>
        <p:nvSpPr>
          <p:cNvPr id="17" name="text-xhmk47">
            <a:extLst xmlns:a="http://schemas.openxmlformats.org/drawingml/2006/main">
              <a:ext uri="{FF2B5EF4-FFF2-40B4-BE49-F238E27FC236}">
                <a16:creationId xmlns:a16="http://schemas.microsoft.com/office/drawing/2014/main" id="{AFF74CE7-6A5C-4618-85C6-A3CF996C048F}"/>
              </a:ext>
            </a:extLst>
          </p:cNvPr>
          <p:cNvSpPr>
            <a:spLocks xmlns:a="http://schemas.openxmlformats.org/drawingml/2006/main" noGrp="1"/>
          </p:cNvSpPr>
          <p:nvPr/>
        </p:nvSpPr>
        <p:spPr>
          <a:xfrm xmlns:a="http://schemas.openxmlformats.org/drawingml/2006/main">
            <a:off x="5429250" y="5334000"/>
            <a:ext cx="5276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4D4942"/>
                </a:solidFill>
                <a:latin typeface="Yu Gothic"/>
                <a:ea typeface="Yu Gothic"/>
                <a:cs typeface="Yu Gothic"/>
              </a:defRPr>
            </a:pPr>
            <a:r>
              <a:rPr sz="1125" b="0" i="0">
                <a:solidFill>
                  <a:srgbClr val="4D4942"/>
                </a:solidFill>
                <a:latin typeface="Yu Gothic"/>
                <a:ea typeface="Yu Gothic"/>
                <a:cs typeface="Yu Gothic"/>
              </a:rPr>
              <a:t>Collections, comments, and an optional forum layer.</a:t>
            </a:r>
          </a:p>
        </p:txBody>
      </p:sp>
    </p:spTree>
    <p:extLst>
      <p:ext uri="{BB962C8B-B14F-4D97-AF65-F5344CB8AC3E}">
        <p14:creationId xmlns:p14="http://schemas.microsoft.com/office/powerpoint/2010/main" val="1889092020"/>
      </p:ext>
    </p:extLst>
  </p:cSld>
</p:sld>
</file>

<file path=ppt/slides/slide15.xml><?xml version="1.0" encoding="utf-8"?>
<p:sld xmlns:p="http://schemas.openxmlformats.org/presentationml/2006/main">
  <p:cSld>
    <p:bg>
      <p:bgPr>
        <a:solidFill xmlns:a="http://schemas.openxmlformats.org/drawingml/2006/main">
          <a:srgbClr val="F2EEE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0e8e6d14518496f"/>
          <a:srcRect xmlns:a="http://schemas.openxmlformats.org/drawingml/2006/main" l="12284" t="0" r="12284" b="0"/>
          <a:stretch xmlns:a="http://schemas.openxmlformats.org/drawingml/2006/main">
            <a:fillRect l="0" t="0" r="0" b="0"/>
          </a:stretch>
        </p:blipFill>
        <p:spPr>
          <a:xfrm xmlns:a="http://schemas.openxmlformats.org/drawingml/2006/main">
            <a:off x="0" y="0"/>
            <a:ext cx="4095750" cy="6858000"/>
          </a:xfrm>
          <a:prstGeom xmlns:a="http://schemas.openxmlformats.org/drawingml/2006/main" prst="rect">
            <a:avLst/>
          </a:prstGeom>
        </p:spPr>
      </p:pic>
      <p:sp>
        <p:nvSpPr>
          <p:cNvPr id="2" name="closing-overlay">
            <a:extLst xmlns:a="http://schemas.openxmlformats.org/drawingml/2006/main">
              <a:ext uri="{FF2B5EF4-FFF2-40B4-BE49-F238E27FC236}">
                <a16:creationId xmlns:a16="http://schemas.microsoft.com/office/drawing/2014/main" id="{2B706943-2148-4620-9FCE-221AC4AABA75}"/>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171613">
              <a:alpha val="80000"/>
            </a:srgbClr>
          </a:solidFill>
          <a:ln xmlns:a="http://schemas.openxmlformats.org/drawingml/2006/main" w="0">
            <a:noFill/>
            <a:prstDash val="solid"/>
          </a:ln>
        </p:spPr>
      </p:sp>
      <p:sp>
        <p:nvSpPr>
          <p:cNvPr id="3" name="rule-502-92">
            <a:extLst xmlns:a="http://schemas.openxmlformats.org/drawingml/2006/main">
              <a:ext uri="{FF2B5EF4-FFF2-40B4-BE49-F238E27FC236}">
                <a16:creationId xmlns:a16="http://schemas.microsoft.com/office/drawing/2014/main" id="{A8375B11-F541-4F85-8602-5166D0CB0675}"/>
              </a:ext>
            </a:extLst>
          </p:cNvPr>
          <p:cNvSpPr>
            <a:spLocks xmlns:a="http://schemas.openxmlformats.org/drawingml/2006/main" noGrp="1"/>
          </p:cNvSpPr>
          <p:nvPr/>
        </p:nvSpPr>
        <p:spPr>
          <a:xfrm xmlns:a="http://schemas.openxmlformats.org/drawingml/2006/main">
            <a:off x="4781550" y="876300"/>
            <a:ext cx="304800" cy="19050"/>
          </a:xfrm>
          <a:prstGeom xmlns:a="http://schemas.openxmlformats.org/drawingml/2006/main" prst="rect">
            <a:avLst/>
          </a:prstGeom>
          <a:solidFill xmlns:a="http://schemas.openxmlformats.org/drawingml/2006/main">
            <a:srgbClr val="D84A32"/>
          </a:solidFill>
          <a:ln xmlns:a="http://schemas.openxmlformats.org/drawingml/2006/main" w="0">
            <a:noFill/>
            <a:prstDash val="solid"/>
          </a:ln>
        </p:spPr>
      </p:sp>
      <p:sp>
        <p:nvSpPr>
          <p:cNvPr id="4" name="text-52gwr8">
            <a:extLst xmlns:a="http://schemas.openxmlformats.org/drawingml/2006/main">
              <a:ext uri="{FF2B5EF4-FFF2-40B4-BE49-F238E27FC236}">
                <a16:creationId xmlns:a16="http://schemas.microsoft.com/office/drawing/2014/main" id="{75114289-8422-417D-AA7A-541CBE79C36F}"/>
              </a:ext>
            </a:extLst>
          </p:cNvPr>
          <p:cNvSpPr>
            <a:spLocks xmlns:a="http://schemas.openxmlformats.org/drawingml/2006/main" noGrp="1"/>
          </p:cNvSpPr>
          <p:nvPr/>
        </p:nvSpPr>
        <p:spPr>
          <a:xfrm xmlns:a="http://schemas.openxmlformats.org/drawingml/2006/main">
            <a:off x="5238750" y="7810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4D4942"/>
                </a:solidFill>
                <a:latin typeface="Consolas"/>
                <a:ea typeface="Consolas"/>
                <a:cs typeface="Consolas"/>
              </a:defRPr>
            </a:pPr>
            <a:r>
              <a:rPr sz="900" b="1" i="0">
                <a:solidFill>
                  <a:srgbClr val="4D4942"/>
                </a:solidFill>
                <a:latin typeface="Consolas"/>
                <a:ea typeface="Consolas"/>
                <a:cs typeface="Consolas"/>
              </a:rPr>
              <a:t>CAMPUSFLOW / FINAL</a:t>
            </a:r>
          </a:p>
        </p:txBody>
      </p:sp>
      <p:sp>
        <p:nvSpPr>
          <p:cNvPr id="5" name="text-cbs47b">
            <a:extLst xmlns:a="http://schemas.openxmlformats.org/drawingml/2006/main">
              <a:ext uri="{FF2B5EF4-FFF2-40B4-BE49-F238E27FC236}">
                <a16:creationId xmlns:a16="http://schemas.microsoft.com/office/drawing/2014/main" id="{71A72588-26DF-4FF4-A2D9-2AE36CE33B7D}"/>
              </a:ext>
            </a:extLst>
          </p:cNvPr>
          <p:cNvSpPr>
            <a:spLocks xmlns:a="http://schemas.openxmlformats.org/drawingml/2006/main" noGrp="1"/>
          </p:cNvSpPr>
          <p:nvPr/>
        </p:nvSpPr>
        <p:spPr>
          <a:xfrm xmlns:a="http://schemas.openxmlformats.org/drawingml/2006/main">
            <a:off x="4762500" y="2190750"/>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5400" b="0" i="0">
                <a:solidFill>
                  <a:srgbClr val="171613"/>
                </a:solidFill>
                <a:latin typeface="Georgia"/>
                <a:ea typeface="Georgia"/>
                <a:cs typeface="Georgia"/>
              </a:defRPr>
            </a:pPr>
            <a:r>
              <a:rPr sz="5400" b="0" i="0">
                <a:solidFill>
                  <a:srgbClr val="171613"/>
                </a:solidFill>
                <a:latin typeface="Georgia"/>
                <a:ea typeface="Georgia"/>
                <a:cs typeface="Georgia"/>
              </a:rPr>
              <a:t>Thank you.</a:t>
            </a:r>
          </a:p>
        </p:txBody>
      </p:sp>
      <p:sp>
        <p:nvSpPr>
          <p:cNvPr id="6" name="text-yrx02d">
            <a:extLst xmlns:a="http://schemas.openxmlformats.org/drawingml/2006/main">
              <a:ext uri="{FF2B5EF4-FFF2-40B4-BE49-F238E27FC236}">
                <a16:creationId xmlns:a16="http://schemas.microsoft.com/office/drawing/2014/main" id="{E43B602B-96F1-43B1-862E-6EFE7DC6D17D}"/>
              </a:ext>
            </a:extLst>
          </p:cNvPr>
          <p:cNvSpPr>
            <a:spLocks xmlns:a="http://schemas.openxmlformats.org/drawingml/2006/main" noGrp="1"/>
          </p:cNvSpPr>
          <p:nvPr/>
        </p:nvSpPr>
        <p:spPr>
          <a:xfrm xmlns:a="http://schemas.openxmlformats.org/drawingml/2006/main">
            <a:off x="4838700" y="3581400"/>
            <a:ext cx="628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0" i="1">
                <a:solidFill>
                  <a:srgbClr val="4D4942"/>
                </a:solidFill>
                <a:latin typeface="Georgia"/>
                <a:ea typeface="Georgia"/>
                <a:cs typeface="Georgia"/>
              </a:defRPr>
            </a:pPr>
            <a:r>
              <a:rPr sz="1650" b="0" i="1">
                <a:solidFill>
                  <a:srgbClr val="4D4942"/>
                </a:solidFill>
                <a:latin typeface="Georgia"/>
                <a:ea typeface="Georgia"/>
                <a:cs typeface="Georgia"/>
              </a:rPr>
              <a:t>I hope you enjoyed this short visit to CampusFlow.</a:t>
            </a:r>
          </a:p>
        </p:txBody>
      </p:sp>
      <p:sp>
        <p:nvSpPr>
          <p:cNvPr id="7" name="rule-508-502">
            <a:extLst xmlns:a="http://schemas.openxmlformats.org/drawingml/2006/main">
              <a:ext uri="{FF2B5EF4-FFF2-40B4-BE49-F238E27FC236}">
                <a16:creationId xmlns:a16="http://schemas.microsoft.com/office/drawing/2014/main" id="{A81A167B-959B-49F7-A287-3DA749D6BC7B}"/>
              </a:ext>
            </a:extLst>
          </p:cNvPr>
          <p:cNvSpPr>
            <a:spLocks xmlns:a="http://schemas.openxmlformats.org/drawingml/2006/main" noGrp="1"/>
          </p:cNvSpPr>
          <p:nvPr/>
        </p:nvSpPr>
        <p:spPr>
          <a:xfrm xmlns:a="http://schemas.openxmlformats.org/drawingml/2006/main">
            <a:off x="4838700" y="4781550"/>
            <a:ext cx="6191250" cy="9525"/>
          </a:xfrm>
          <a:prstGeom xmlns:a="http://schemas.openxmlformats.org/drawingml/2006/main" prst="rect">
            <a:avLst/>
          </a:prstGeom>
          <a:solidFill xmlns:a="http://schemas.openxmlformats.org/drawingml/2006/main">
            <a:srgbClr val="4D4942"/>
          </a:solidFill>
          <a:ln xmlns:a="http://schemas.openxmlformats.org/drawingml/2006/main" w="0">
            <a:noFill/>
            <a:prstDash val="solid"/>
          </a:ln>
        </p:spPr>
      </p:sp>
      <p:sp>
        <p:nvSpPr>
          <p:cNvPr id="8" name="text-1xb6nc">
            <a:extLst xmlns:a="http://schemas.openxmlformats.org/drawingml/2006/main">
              <a:ext uri="{FF2B5EF4-FFF2-40B4-BE49-F238E27FC236}">
                <a16:creationId xmlns:a16="http://schemas.microsoft.com/office/drawing/2014/main" id="{45789377-847B-40B2-8945-E5FFC5A424F2}"/>
              </a:ext>
            </a:extLst>
          </p:cNvPr>
          <p:cNvSpPr>
            <a:spLocks xmlns:a="http://schemas.openxmlformats.org/drawingml/2006/main" noGrp="1"/>
          </p:cNvSpPr>
          <p:nvPr/>
        </p:nvSpPr>
        <p:spPr>
          <a:xfrm xmlns:a="http://schemas.openxmlformats.org/drawingml/2006/main">
            <a:off x="4838700" y="50101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0" i="0">
                <a:solidFill>
                  <a:srgbClr val="A82F22"/>
                </a:solidFill>
                <a:latin typeface="Consolas"/>
                <a:ea typeface="Consolas"/>
                <a:cs typeface="Consolas"/>
              </a:defRPr>
            </a:pPr>
            <a:r>
              <a:rPr sz="825" b="0" i="0">
                <a:solidFill>
                  <a:srgbClr val="A82F22"/>
                </a:solidFill>
                <a:latin typeface="Consolas"/>
                <a:ea typeface="Consolas"/>
                <a:cs typeface="Consolas"/>
              </a:rPr>
              <a:t>campusflow-final-0724-grbzdrczdqdyhyea.japanwest-01.azurewebsites.net</a:t>
            </a:r>
          </a:p>
        </p:txBody>
      </p:sp>
      <p:sp>
        <p:nvSpPr>
          <p:cNvPr id="9" name="text-uume1x">
            <a:extLst xmlns:a="http://schemas.openxmlformats.org/drawingml/2006/main">
              <a:ext uri="{FF2B5EF4-FFF2-40B4-BE49-F238E27FC236}">
                <a16:creationId xmlns:a16="http://schemas.microsoft.com/office/drawing/2014/main" id="{E82FF0B9-4735-4D7F-BC22-374C693CA0E7}"/>
              </a:ext>
            </a:extLst>
          </p:cNvPr>
          <p:cNvSpPr>
            <a:spLocks xmlns:a="http://schemas.openxmlformats.org/drawingml/2006/main" noGrp="1"/>
          </p:cNvSpPr>
          <p:nvPr/>
        </p:nvSpPr>
        <p:spPr>
          <a:xfrm xmlns:a="http://schemas.openxmlformats.org/drawingml/2006/main">
            <a:off x="4838700" y="56007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7D776D"/>
                </a:solidFill>
                <a:latin typeface="Consolas"/>
                <a:ea typeface="Consolas"/>
                <a:cs typeface="Consolas"/>
              </a:defRPr>
            </a:pPr>
            <a:r>
              <a:rPr sz="900" b="0" i="0">
                <a:solidFill>
                  <a:srgbClr val="7D776D"/>
                </a:solidFill>
                <a:latin typeface="Consolas"/>
                <a:ea typeface="Consolas"/>
                <a:cs typeface="Consolas"/>
              </a:rPr>
              <a:t>ZHU FUXIN  ·  M25W7195</a:t>
            </a:r>
          </a:p>
        </p:txBody>
      </p:sp>
    </p:spTree>
    <p:extLst>
      <p:ext uri="{BB962C8B-B14F-4D97-AF65-F5344CB8AC3E}">
        <p14:creationId xmlns:p14="http://schemas.microsoft.com/office/powerpoint/2010/main" val="1942650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228600" dist="106493" dir="3806097">
              <a:srgbClr val="000000">
                <a:alpha val="16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2026-07-24T08:55:09.9380000Z</dcterms:created>
  <dcterms:modified xsi:type="dcterms:W3CDTF">2026-07-24T08:55:09.9380000Z</dcterms:modified>
</coreProperties>
</file>